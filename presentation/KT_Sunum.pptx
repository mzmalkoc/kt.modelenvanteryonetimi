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69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282" y="5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9C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logo.jpg">
            <a:extLst>
              <a:ext uri="{FF2B5EF4-FFF2-40B4-BE49-F238E27FC236}">
                <a16:creationId xmlns:a16="http://schemas.microsoft.com/office/drawing/2014/main" id="{E05D22DD-DF7B-B425-6C4A-4DE263396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360" y="737826"/>
            <a:ext cx="3200400" cy="5683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0F9173AE-0B91-BBBE-F995-2065E901660D}"/>
              </a:ext>
            </a:extLst>
          </p:cNvPr>
          <p:cNvSpPr txBox="1"/>
          <p:nvPr/>
        </p:nvSpPr>
        <p:spPr>
          <a:xfrm>
            <a:off x="975360" y="2367473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MODEL ENVANTER YÖNETİMİ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DF12783B-DFE0-40D7-6C72-5DA8703B6D1B}"/>
              </a:ext>
            </a:extLst>
          </p:cNvPr>
          <p:cNvSpPr txBox="1"/>
          <p:nvPr/>
        </p:nvSpPr>
        <p:spPr>
          <a:xfrm>
            <a:off x="975360" y="4196273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FBF1"/>
                </a:solidFill>
              </a:defRPr>
            </a:pPr>
            <a:r>
              <a:rPr dirty="0"/>
              <a:t>3-Aşamalı RAG  •  3-Skorlu </a:t>
            </a:r>
            <a:r>
              <a:rPr dirty="0" err="1"/>
              <a:t>Kalite</a:t>
            </a:r>
            <a:r>
              <a:rPr dirty="0"/>
              <a:t> </a:t>
            </a:r>
            <a:r>
              <a:rPr dirty="0" err="1"/>
              <a:t>Sistemi</a:t>
            </a:r>
            <a:r>
              <a:rPr dirty="0"/>
              <a:t>  •  </a:t>
            </a:r>
            <a:r>
              <a:rPr dirty="0" err="1"/>
              <a:t>Kurumsal</a:t>
            </a:r>
            <a:r>
              <a:rPr dirty="0"/>
              <a:t> </a:t>
            </a:r>
            <a:r>
              <a:rPr dirty="0" err="1"/>
              <a:t>İş</a:t>
            </a:r>
            <a:r>
              <a:rPr dirty="0"/>
              <a:t> </a:t>
            </a:r>
            <a:r>
              <a:rPr dirty="0" err="1"/>
              <a:t>Akışı</a:t>
            </a:r>
            <a:endParaRPr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0D48A484-CBF0-CEBB-E723-0B8F19E57091}"/>
              </a:ext>
            </a:extLst>
          </p:cNvPr>
          <p:cNvSpPr txBox="1"/>
          <p:nvPr/>
        </p:nvSpPr>
        <p:spPr>
          <a:xfrm>
            <a:off x="902208" y="5596128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dirty="0"/>
              <a:t>|  </a:t>
            </a:r>
            <a:r>
              <a:rPr dirty="0" err="1"/>
              <a:t>Kuveyt</a:t>
            </a:r>
            <a:r>
              <a:rPr dirty="0"/>
              <a:t> Türk </a:t>
            </a:r>
            <a:r>
              <a:rPr dirty="0" err="1"/>
              <a:t>Yapay</a:t>
            </a:r>
            <a:r>
              <a:rPr dirty="0"/>
              <a:t> Zeka </a:t>
            </a:r>
            <a:r>
              <a:rPr dirty="0" err="1"/>
              <a:t>Laboratuvarı</a:t>
            </a:r>
            <a:r>
              <a:rPr lang="tr-TR" dirty="0"/>
              <a:t> Case </a:t>
            </a:r>
            <a:r>
              <a:rPr lang="tr-TR" dirty="0" err="1"/>
              <a:t>Study</a:t>
            </a:r>
            <a:r>
              <a:rPr lang="tr-TR" dirty="0"/>
              <a:t> </a:t>
            </a:r>
            <a:r>
              <a:rPr lang="en-US" dirty="0"/>
              <a:t>|</a:t>
            </a:r>
            <a:endParaRPr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23101951-EDF1-4C19-0BDE-05ED0E606B76}"/>
              </a:ext>
            </a:extLst>
          </p:cNvPr>
          <p:cNvSpPr txBox="1"/>
          <p:nvPr/>
        </p:nvSpPr>
        <p:spPr>
          <a:xfrm>
            <a:off x="2956560" y="320001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Model </a:t>
            </a:r>
            <a:r>
              <a:rPr lang="en-US" sz="2000" dirty="0" err="1">
                <a:solidFill>
                  <a:schemeClr val="bg1"/>
                </a:solidFill>
              </a:rPr>
              <a:t>Envanteri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Tekrar</a:t>
            </a:r>
            <a:r>
              <a:rPr lang="en-US" sz="2000" dirty="0">
                <a:solidFill>
                  <a:schemeClr val="bg1"/>
                </a:solidFill>
              </a:rPr>
              <a:t> Tespit </a:t>
            </a:r>
            <a:r>
              <a:rPr lang="en-US" sz="2000" dirty="0" err="1">
                <a:solidFill>
                  <a:schemeClr val="bg1"/>
                </a:solidFill>
              </a:rPr>
              <a:t>ve</a:t>
            </a:r>
            <a:r>
              <a:rPr lang="en-US" sz="2000" dirty="0">
                <a:solidFill>
                  <a:schemeClr val="bg1"/>
                </a:solidFill>
              </a:rPr>
              <a:t> Yeni </a:t>
            </a:r>
            <a:r>
              <a:rPr lang="en-US" sz="2000" dirty="0" err="1">
                <a:solidFill>
                  <a:schemeClr val="bg1"/>
                </a:solidFill>
              </a:rPr>
              <a:t>Talep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Sistemi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9C87"/>
                </a:solidFill>
              </a:defRPr>
            </a:pPr>
            <a:r>
              <a:t>Problem Tanımı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</a:defRPr>
            </a:pPr>
            <a:r>
              <a:t>Banka genelinde birden fazla iş birimi kendi ihtiyaçlarına göre AI/ML model talep ediyor</a:t>
            </a:r>
          </a:p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</a:defRPr>
            </a:pPr>
            <a:r>
              <a:t>Talep edilen modelin envanterde zaten var olup olmadığı bilinmiyor</a:t>
            </a:r>
          </a:p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</a:defRPr>
            </a:pPr>
            <a:r>
              <a:t>Aynı veya benzer modeller farklı isimlerle birden çok kez geliştiriliyor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2000" b="1">
                <a:solidFill>
                  <a:srgbClr val="DC2626"/>
                </a:solidFill>
              </a:defRPr>
            </a:pPr>
            <a:r>
              <a:t>Sonuç:</a:t>
            </a:r>
          </a:p>
          <a:p>
            <a:pPr lvl="1">
              <a:spcBef>
                <a:spcPts val="300"/>
              </a:spcBef>
              <a:defRPr sz="1600" b="0">
                <a:solidFill>
                  <a:srgbClr val="DC2626"/>
                </a:solidFill>
              </a:defRPr>
            </a:pPr>
            <a:r>
              <a:t>❌  Mükerrer iş → kaynak israfı</a:t>
            </a:r>
          </a:p>
          <a:p>
            <a:pPr lvl="1">
              <a:spcBef>
                <a:spcPts val="300"/>
              </a:spcBef>
              <a:defRPr sz="1600" b="0">
                <a:solidFill>
                  <a:srgbClr val="DC2626"/>
                </a:solidFill>
              </a:defRPr>
            </a:pPr>
            <a:r>
              <a:t>❌  Tutarsız model çıktıları → karar birliği bozuluyor</a:t>
            </a:r>
          </a:p>
          <a:p>
            <a:pPr lvl="1">
              <a:spcBef>
                <a:spcPts val="300"/>
              </a:spcBef>
              <a:defRPr sz="1600" b="0">
                <a:solidFill>
                  <a:srgbClr val="DC2626"/>
                </a:solidFill>
              </a:defRPr>
            </a:pPr>
            <a:r>
              <a:t>❌  Kaybedilen kurumsal hafıza → yeniden öğrenme maliyeti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800" b="1">
                <a:solidFill>
                  <a:srgbClr val="16A34A"/>
                </a:solidFill>
              </a:defRPr>
            </a:pPr>
            <a:r>
              <a:t>✅  Çözüm Hedefi: Yeni model talebini alıp envanterle karşılaştıran, benzer model varsa otomatik uyarı veren akıllı bir sistem.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9C87"/>
                </a:solidFill>
              </a:defRPr>
            </a:pPr>
            <a:r>
              <a:t>Çözüm Yaklaşımı: Semantic Similarity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rPr dirty="0" err="1"/>
              <a:t>Kullanıcı</a:t>
            </a:r>
            <a:r>
              <a:rPr dirty="0"/>
              <a:t> </a:t>
            </a:r>
            <a:r>
              <a:rPr dirty="0" err="1"/>
              <a:t>doğal</a:t>
            </a:r>
            <a:r>
              <a:rPr dirty="0"/>
              <a:t> </a:t>
            </a:r>
            <a:r>
              <a:rPr dirty="0" err="1"/>
              <a:t>dilde</a:t>
            </a:r>
            <a:r>
              <a:rPr dirty="0"/>
              <a:t> model </a:t>
            </a:r>
            <a:r>
              <a:rPr dirty="0" err="1"/>
              <a:t>talebini</a:t>
            </a:r>
            <a:r>
              <a:rPr dirty="0"/>
              <a:t> </a:t>
            </a:r>
            <a:r>
              <a:rPr dirty="0" err="1"/>
              <a:t>girer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64748B"/>
                </a:solidFill>
              </a:defRPr>
            </a:pPr>
            <a:r>
              <a:rPr dirty="0"/>
              <a:t>"</a:t>
            </a:r>
            <a:r>
              <a:rPr dirty="0" err="1"/>
              <a:t>Kredi</a:t>
            </a:r>
            <a:r>
              <a:rPr dirty="0"/>
              <a:t> </a:t>
            </a:r>
            <a:r>
              <a:rPr dirty="0" err="1"/>
              <a:t>kartı</a:t>
            </a:r>
            <a:r>
              <a:rPr dirty="0"/>
              <a:t> </a:t>
            </a:r>
            <a:r>
              <a:rPr dirty="0" err="1"/>
              <a:t>işlemlerinde</a:t>
            </a:r>
            <a:r>
              <a:rPr dirty="0"/>
              <a:t> anormal </a:t>
            </a:r>
            <a:r>
              <a:rPr dirty="0" err="1"/>
              <a:t>aktiviteleri</a:t>
            </a:r>
            <a:r>
              <a:rPr dirty="0"/>
              <a:t> </a:t>
            </a:r>
            <a:r>
              <a:rPr dirty="0" err="1"/>
              <a:t>tespit</a:t>
            </a:r>
            <a:r>
              <a:rPr dirty="0"/>
              <a:t> </a:t>
            </a:r>
            <a:r>
              <a:rPr dirty="0" err="1"/>
              <a:t>eden</a:t>
            </a:r>
            <a:r>
              <a:rPr dirty="0"/>
              <a:t> model"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anlamsal</a:t>
            </a:r>
            <a:r>
              <a:rPr dirty="0"/>
              <a:t> </a:t>
            </a:r>
            <a:r>
              <a:rPr dirty="0" err="1"/>
              <a:t>vektör</a:t>
            </a:r>
            <a:r>
              <a:rPr dirty="0"/>
              <a:t> </a:t>
            </a:r>
            <a:r>
              <a:rPr dirty="0" err="1"/>
              <a:t>uzayında</a:t>
            </a:r>
            <a:r>
              <a:rPr dirty="0"/>
              <a:t> </a:t>
            </a:r>
            <a:r>
              <a:rPr dirty="0" err="1"/>
              <a:t>envanteri</a:t>
            </a:r>
            <a:r>
              <a:rPr dirty="0"/>
              <a:t> </a:t>
            </a:r>
            <a:r>
              <a:rPr dirty="0" err="1"/>
              <a:t>tarar</a:t>
            </a:r>
            <a:r>
              <a:rPr dirty="0"/>
              <a:t>: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DC2626"/>
                </a:solidFill>
              </a:defRPr>
            </a:pPr>
            <a:r>
              <a:rPr dirty="0"/>
              <a:t>Card Fraud Detection → %87 </a:t>
            </a:r>
            <a:r>
              <a:rPr dirty="0" err="1"/>
              <a:t>benzerlik</a:t>
            </a:r>
            <a:r>
              <a:rPr dirty="0"/>
              <a:t> ⚠️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CA8A04"/>
                </a:solidFill>
              </a:defRPr>
            </a:pPr>
            <a:r>
              <a:rPr dirty="0"/>
              <a:t>Transaction Fraud → %74 </a:t>
            </a:r>
            <a:r>
              <a:rPr dirty="0" err="1"/>
              <a:t>benzerlik</a:t>
            </a:r>
            <a:r>
              <a:rPr dirty="0"/>
              <a:t> ⚠️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16A34A"/>
                </a:solidFill>
              </a:defRPr>
            </a:pPr>
            <a:r>
              <a:rPr dirty="0"/>
              <a:t>ATM Cash Forecast → %12 </a:t>
            </a:r>
            <a:r>
              <a:rPr dirty="0" err="1"/>
              <a:t>benzerlik</a:t>
            </a:r>
            <a:r>
              <a:rPr dirty="0"/>
              <a:t>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097280"/>
            <a:ext cx="27432" cy="4572000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rPr dirty="0" err="1"/>
              <a:t>Neden</a:t>
            </a:r>
            <a:r>
              <a:rPr dirty="0"/>
              <a:t> </a:t>
            </a:r>
            <a:r>
              <a:rPr dirty="0" err="1"/>
              <a:t>sadece</a:t>
            </a:r>
            <a:r>
              <a:rPr dirty="0"/>
              <a:t> </a:t>
            </a:r>
            <a:r>
              <a:rPr dirty="0" err="1"/>
              <a:t>anahtar</a:t>
            </a:r>
            <a:r>
              <a:rPr dirty="0"/>
              <a:t> </a:t>
            </a:r>
            <a:r>
              <a:rPr dirty="0" err="1"/>
              <a:t>kelime</a:t>
            </a:r>
            <a:r>
              <a:rPr dirty="0"/>
              <a:t> </a:t>
            </a:r>
            <a:r>
              <a:rPr dirty="0" err="1"/>
              <a:t>eşleştirme</a:t>
            </a:r>
            <a:r>
              <a:rPr dirty="0"/>
              <a:t> </a:t>
            </a:r>
            <a:r>
              <a:rPr dirty="0" err="1"/>
              <a:t>yetmez</a:t>
            </a:r>
            <a:r>
              <a:rPr dirty="0"/>
              <a:t>?</a:t>
            </a:r>
          </a:p>
          <a:p>
            <a:pPr>
              <a:spcBef>
                <a:spcPts val="300"/>
              </a:spcBef>
              <a:defRPr sz="1300" b="0">
                <a:solidFill>
                  <a:srgbClr val="64748B"/>
                </a:solidFill>
              </a:defRPr>
            </a:pPr>
            <a:r>
              <a:rPr dirty="0"/>
              <a:t>"</a:t>
            </a:r>
            <a:r>
              <a:rPr dirty="0" err="1"/>
              <a:t>Müşteri</a:t>
            </a:r>
            <a:r>
              <a:rPr dirty="0"/>
              <a:t> risk </a:t>
            </a:r>
            <a:r>
              <a:rPr dirty="0" err="1"/>
              <a:t>skorlama</a:t>
            </a:r>
            <a:r>
              <a:rPr dirty="0"/>
              <a:t>" ≠ "Customer risk assessment"</a:t>
            </a:r>
          </a:p>
          <a:p>
            <a:pPr>
              <a:spcBef>
                <a:spcPts val="300"/>
              </a:spcBef>
              <a:defRPr sz="1300" b="0">
                <a:solidFill>
                  <a:srgbClr val="64748B"/>
                </a:solidFill>
              </a:defRPr>
            </a:pPr>
            <a:r>
              <a:rPr dirty="0" err="1"/>
              <a:t>Kelime</a:t>
            </a:r>
            <a:r>
              <a:rPr dirty="0"/>
              <a:t> </a:t>
            </a:r>
            <a:r>
              <a:rPr dirty="0" err="1"/>
              <a:t>eşleşmiyor</a:t>
            </a:r>
            <a:r>
              <a:rPr dirty="0"/>
              <a:t> ama </a:t>
            </a:r>
            <a:r>
              <a:rPr dirty="0" err="1"/>
              <a:t>anlam</a:t>
            </a:r>
            <a:r>
              <a:rPr dirty="0"/>
              <a:t> </a:t>
            </a:r>
            <a:r>
              <a:rPr dirty="0" err="1"/>
              <a:t>aynı</a:t>
            </a:r>
            <a:r>
              <a:rPr dirty="0"/>
              <a:t>!</a:t>
            </a:r>
          </a:p>
          <a:p>
            <a:pPr>
              <a:spcBef>
                <a:spcPts val="300"/>
              </a:spcBef>
              <a:defRPr sz="1400" b="1">
                <a:solidFill>
                  <a:srgbClr val="1A9C87"/>
                </a:solidFill>
              </a:defRPr>
            </a:pPr>
            <a:r>
              <a:rPr dirty="0"/>
              <a:t>→ Embedding </a:t>
            </a:r>
            <a:r>
              <a:rPr dirty="0" err="1"/>
              <a:t>tabanlı</a:t>
            </a:r>
            <a:r>
              <a:rPr dirty="0"/>
              <a:t> </a:t>
            </a:r>
            <a:r>
              <a:rPr dirty="0" err="1"/>
              <a:t>yaklaşım</a:t>
            </a:r>
            <a:r>
              <a:rPr dirty="0"/>
              <a:t> </a:t>
            </a:r>
            <a:r>
              <a:rPr dirty="0" err="1"/>
              <a:t>zorunlu</a:t>
            </a:r>
            <a:endParaRPr dirty="0"/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rPr dirty="0" err="1"/>
              <a:t>Bankacılık</a:t>
            </a:r>
            <a:r>
              <a:rPr dirty="0"/>
              <a:t> </a:t>
            </a:r>
            <a:r>
              <a:rPr dirty="0" err="1"/>
              <a:t>jargonu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keyword search de </a:t>
            </a:r>
            <a:r>
              <a:rPr dirty="0" err="1"/>
              <a:t>gerekli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64748B"/>
                </a:solidFill>
              </a:defRPr>
            </a:pPr>
            <a:r>
              <a:rPr dirty="0"/>
              <a:t>OFAC, KKB, PCI-DSS </a:t>
            </a:r>
            <a:r>
              <a:rPr dirty="0" err="1"/>
              <a:t>gibi</a:t>
            </a:r>
            <a:r>
              <a:rPr dirty="0"/>
              <a:t> </a:t>
            </a:r>
            <a:r>
              <a:rPr dirty="0" err="1"/>
              <a:t>kısaltmalar</a:t>
            </a:r>
            <a:endParaRPr dirty="0"/>
          </a:p>
          <a:p>
            <a:pPr>
              <a:spcBef>
                <a:spcPts val="300"/>
              </a:spcBef>
              <a:defRPr sz="1400" b="1">
                <a:solidFill>
                  <a:srgbClr val="1A9C87"/>
                </a:solidFill>
              </a:defRPr>
            </a:pPr>
            <a:r>
              <a:rPr dirty="0"/>
              <a:t>→ </a:t>
            </a:r>
            <a:r>
              <a:rPr dirty="0" err="1"/>
              <a:t>Hibrit</a:t>
            </a:r>
            <a:r>
              <a:rPr dirty="0"/>
              <a:t> </a:t>
            </a:r>
            <a:r>
              <a:rPr dirty="0" err="1"/>
              <a:t>yaklaşım</a:t>
            </a:r>
            <a:r>
              <a:rPr dirty="0"/>
              <a:t>: Semantic + BM25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9C87"/>
                </a:solidFill>
              </a:defRPr>
            </a:pPr>
            <a:r>
              <a:t>3-Aşamalı RAG Mimarisi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Aşama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Teknoloji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Ne Yapar?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Neden Gerekli?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1. Multi-View Bi-Encoder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MiniLM-L12-v2 (50+ dil)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3 vektör per model per dil (6 toplam)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Kısa/uzun/jargon sorgulara ayrı optimizasyon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2. BM25 Lexical Search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rank-bm25 (Okapi)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Exact keyword eşleştirme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OFAC, KKB gibi kısaltmalar semantikte kaybolur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3. Cross-Encoder Rerank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mmarco-mMiniLMv2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TOP-10 adayı yeniden sırala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Bi-encoder yanlış pozitif verebilir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6"/>
                </a:solidFill>
              </a:defRPr>
            </a:pPr>
            <a:r>
              <a:t>Skor Formülü:  final = 0.7 × hybrid(0.65 × semantic + 0.35 × bm25) + 0.3 × rerank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A/B Test Sonucu: 6/6 testte iyileşme, ortalama +%44.7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9C87"/>
                </a:solidFill>
              </a:defRPr>
            </a:pPr>
            <a:r>
              <a:t>Çok Dilli (Multilingual) Eşleştirme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</a:defRPr>
            </a:pPr>
            <a:endParaRPr lang="tr-TR" dirty="0"/>
          </a:p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</a:defRPr>
            </a:pPr>
            <a:r>
              <a:rPr lang="tr-TR" dirty="0" err="1"/>
              <a:t>KuveytTürk’te</a:t>
            </a:r>
            <a:r>
              <a:rPr dirty="0"/>
              <a:t> </a:t>
            </a:r>
            <a:r>
              <a:rPr dirty="0" err="1"/>
              <a:t>Gerçek</a:t>
            </a:r>
            <a:r>
              <a:rPr dirty="0"/>
              <a:t> </a:t>
            </a:r>
            <a:r>
              <a:rPr dirty="0" err="1"/>
              <a:t>Senaryo</a:t>
            </a:r>
            <a:r>
              <a:rPr dirty="0"/>
              <a:t>:</a:t>
            </a:r>
            <a:br>
              <a:rPr lang="tr-TR" dirty="0"/>
            </a:br>
            <a:r>
              <a:rPr lang="tr-TR" sz="1400" dirty="0"/>
              <a:t>	</a:t>
            </a:r>
            <a:r>
              <a:rPr lang="en-US" sz="1400" dirty="0">
                <a:solidFill>
                  <a:srgbClr val="1E293B"/>
                </a:solidFill>
              </a:rPr>
              <a:t>Kuwait Finance House</a:t>
            </a:r>
            <a:r>
              <a:rPr lang="tr-TR" sz="1400" dirty="0">
                <a:solidFill>
                  <a:srgbClr val="1E293B"/>
                </a:solidFill>
              </a:rPr>
              <a:t>, </a:t>
            </a:r>
            <a:r>
              <a:rPr lang="en-US" sz="1400" dirty="0">
                <a:solidFill>
                  <a:srgbClr val="1E293B"/>
                </a:solidFill>
              </a:rPr>
              <a:t> </a:t>
            </a:r>
            <a:r>
              <a:rPr lang="en-US" sz="1400" dirty="0" err="1">
                <a:solidFill>
                  <a:srgbClr val="1E293B"/>
                </a:solidFill>
              </a:rPr>
              <a:t>Vakıflar</a:t>
            </a:r>
            <a:r>
              <a:rPr lang="en-US" sz="1400" dirty="0">
                <a:solidFill>
                  <a:srgbClr val="1E293B"/>
                </a:solidFill>
              </a:rPr>
              <a:t> Genel </a:t>
            </a:r>
            <a:r>
              <a:rPr lang="en-US" sz="1400" dirty="0" err="1">
                <a:solidFill>
                  <a:srgbClr val="1E293B"/>
                </a:solidFill>
              </a:rPr>
              <a:t>Müdürlüğü</a:t>
            </a:r>
            <a:r>
              <a:rPr lang="tr-TR" sz="1400" dirty="0">
                <a:solidFill>
                  <a:srgbClr val="1E293B"/>
                </a:solidFill>
              </a:rPr>
              <a:t>, </a:t>
            </a:r>
            <a:r>
              <a:rPr lang="en-US" sz="1400" dirty="0">
                <a:solidFill>
                  <a:srgbClr val="1E293B"/>
                </a:solidFill>
              </a:rPr>
              <a:t>Islamic Development Bank</a:t>
            </a:r>
            <a:r>
              <a:rPr lang="tr-TR" sz="1400" dirty="0">
                <a:solidFill>
                  <a:srgbClr val="1E293B"/>
                </a:solidFill>
              </a:rPr>
              <a:t> ve </a:t>
            </a:r>
            <a:r>
              <a:rPr lang="en-US" sz="1400" dirty="0">
                <a:solidFill>
                  <a:srgbClr val="1E293B"/>
                </a:solidFill>
              </a:rPr>
              <a:t>Wafra International Investment Company</a:t>
            </a:r>
            <a:r>
              <a:rPr lang="tr-TR" sz="1400" dirty="0">
                <a:solidFill>
                  <a:srgbClr val="1E293B"/>
                </a:solidFill>
              </a:rPr>
              <a:t> gibi </a:t>
            </a:r>
            <a:r>
              <a:rPr lang="en-US" sz="1400" dirty="0" err="1">
                <a:solidFill>
                  <a:srgbClr val="1E293B"/>
                </a:solidFill>
              </a:rPr>
              <a:t>yabancı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sermayeli</a:t>
            </a:r>
            <a:r>
              <a:rPr lang="tr-TR" sz="1400" dirty="0">
                <a:solidFill>
                  <a:srgbClr val="1E293B"/>
                </a:solidFill>
              </a:rPr>
              <a:t> ortakları da olan bir katılım bankası olarak, iş ilanların çoğunda yabancı dil yeterliliğine önem veren ve uluslararası çalışanlara da sahip olan bir firma olarak </a:t>
            </a:r>
            <a:r>
              <a:rPr lang="tr-TR" sz="1400" dirty="0" err="1">
                <a:solidFill>
                  <a:srgbClr val="1E293B"/>
                </a:solidFill>
              </a:rPr>
              <a:t>multilingual</a:t>
            </a:r>
            <a:r>
              <a:rPr lang="tr-TR" sz="1400" dirty="0">
                <a:solidFill>
                  <a:srgbClr val="1E293B"/>
                </a:solidFill>
              </a:rPr>
              <a:t> bir çözüm üretilmesi gerekliliği ortadadır.</a:t>
            </a:r>
            <a:br>
              <a:rPr lang="tr-TR" sz="1400" dirty="0">
                <a:solidFill>
                  <a:srgbClr val="1E293B"/>
                </a:solidFill>
              </a:rPr>
            </a:br>
            <a:endParaRPr sz="1400" dirty="0">
              <a:solidFill>
                <a:srgbClr val="1E293B"/>
              </a:solidFill>
            </a:endParaRPr>
          </a:p>
          <a:p>
            <a:pPr>
              <a:spcBef>
                <a:spcPts val="300"/>
              </a:spcBef>
              <a:defRPr sz="1400" b="0">
                <a:solidFill>
                  <a:srgbClr val="1E293B"/>
                </a:solidFill>
              </a:defRPr>
            </a:pPr>
            <a:r>
              <a:rPr sz="1400" b="1" dirty="0">
                <a:solidFill>
                  <a:srgbClr val="1E293B"/>
                </a:solidFill>
              </a:rPr>
              <a:t>Türk </a:t>
            </a:r>
            <a:r>
              <a:rPr sz="1400" b="1" dirty="0" err="1">
                <a:solidFill>
                  <a:srgbClr val="1E293B"/>
                </a:solidFill>
              </a:rPr>
              <a:t>çalışan</a:t>
            </a:r>
            <a:r>
              <a:rPr sz="1400" b="1" dirty="0">
                <a:solidFill>
                  <a:srgbClr val="1E293B"/>
                </a:solidFill>
              </a:rPr>
              <a:t>: </a:t>
            </a:r>
            <a:r>
              <a:rPr dirty="0"/>
              <a:t>"</a:t>
            </a:r>
            <a:r>
              <a:rPr dirty="0" err="1"/>
              <a:t>Kredi</a:t>
            </a:r>
            <a:r>
              <a:rPr dirty="0"/>
              <a:t> </a:t>
            </a:r>
            <a:r>
              <a:rPr dirty="0" err="1"/>
              <a:t>başvurularında</a:t>
            </a:r>
            <a:r>
              <a:rPr dirty="0"/>
              <a:t> risk </a:t>
            </a:r>
            <a:r>
              <a:rPr dirty="0" err="1"/>
              <a:t>değerlendirmesi</a:t>
            </a:r>
            <a:r>
              <a:rPr dirty="0"/>
              <a:t>"</a:t>
            </a:r>
          </a:p>
          <a:p>
            <a:pPr>
              <a:spcBef>
                <a:spcPts val="300"/>
              </a:spcBef>
              <a:defRPr sz="1400" b="0">
                <a:solidFill>
                  <a:srgbClr val="1E293B"/>
                </a:solidFill>
              </a:defRPr>
            </a:pPr>
            <a:r>
              <a:rPr sz="1400" b="1" dirty="0" err="1">
                <a:solidFill>
                  <a:srgbClr val="1E293B"/>
                </a:solidFill>
              </a:rPr>
              <a:t>Yabancı</a:t>
            </a:r>
            <a:r>
              <a:rPr sz="1400" b="1" dirty="0">
                <a:solidFill>
                  <a:srgbClr val="1E293B"/>
                </a:solidFill>
              </a:rPr>
              <a:t> </a:t>
            </a:r>
            <a:r>
              <a:rPr sz="1400" b="1" dirty="0" err="1">
                <a:solidFill>
                  <a:srgbClr val="1E293B"/>
                </a:solidFill>
              </a:rPr>
              <a:t>çalışan</a:t>
            </a:r>
            <a:r>
              <a:rPr sz="1400" b="1" dirty="0">
                <a:solidFill>
                  <a:srgbClr val="1E293B"/>
                </a:solidFill>
              </a:rPr>
              <a:t>: </a:t>
            </a:r>
            <a:r>
              <a:rPr dirty="0"/>
              <a:t>"Risk assessment for loan applications"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600" b="1">
                <a:solidFill>
                  <a:srgbClr val="16A34A"/>
                </a:solidFill>
              </a:defRPr>
            </a:pPr>
            <a:r>
              <a:rPr dirty="0"/>
              <a:t>Her </a:t>
            </a:r>
            <a:r>
              <a:rPr dirty="0" err="1"/>
              <a:t>ikisi</a:t>
            </a:r>
            <a:r>
              <a:rPr dirty="0"/>
              <a:t> de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modeli</a:t>
            </a:r>
            <a:r>
              <a:rPr dirty="0"/>
              <a:t> (Credit Scoring) </a:t>
            </a:r>
            <a:r>
              <a:rPr dirty="0" err="1"/>
              <a:t>bulmalı</a:t>
            </a:r>
            <a:r>
              <a:rPr lang="tr-TR" dirty="0" err="1"/>
              <a:t>dır</a:t>
            </a:r>
            <a:r>
              <a:rPr dirty="0"/>
              <a:t>!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400" b="1">
                <a:solidFill>
                  <a:srgbClr val="1A9C87"/>
                </a:solidFill>
              </a:defRPr>
            </a:pPr>
            <a:r>
              <a:rPr dirty="0"/>
              <a:t>paraphrase-multilingual-MiniLM-L12-v2</a:t>
            </a:r>
          </a:p>
          <a:p>
            <a:pPr>
              <a:spcBef>
                <a:spcPts val="300"/>
              </a:spcBef>
              <a:defRPr sz="1400" b="0">
                <a:solidFill>
                  <a:srgbClr val="64748B"/>
                </a:solidFill>
              </a:defRPr>
            </a:pPr>
            <a:r>
              <a:rPr dirty="0"/>
              <a:t>50+ </a:t>
            </a:r>
            <a:r>
              <a:rPr dirty="0" err="1"/>
              <a:t>dili</a:t>
            </a:r>
            <a:r>
              <a:rPr dirty="0"/>
              <a:t>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vektör</a:t>
            </a:r>
            <a:r>
              <a:rPr dirty="0"/>
              <a:t> </a:t>
            </a:r>
            <a:r>
              <a:rPr dirty="0" err="1"/>
              <a:t>uzayında</a:t>
            </a:r>
            <a:r>
              <a:rPr dirty="0"/>
              <a:t> </a:t>
            </a:r>
            <a:r>
              <a:rPr dirty="0" err="1"/>
              <a:t>anlar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</a:defRPr>
            </a:pPr>
            <a:r>
              <a:rPr dirty="0" err="1"/>
              <a:t>Avantajlar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400" b="0">
                <a:solidFill>
                  <a:srgbClr val="16A34A"/>
                </a:solidFill>
              </a:defRPr>
            </a:pPr>
            <a:r>
              <a:rPr dirty="0"/>
              <a:t>✅  </a:t>
            </a:r>
            <a:r>
              <a:rPr dirty="0" err="1"/>
              <a:t>Çeviri</a:t>
            </a:r>
            <a:r>
              <a:rPr dirty="0"/>
              <a:t> </a:t>
            </a:r>
            <a:r>
              <a:rPr dirty="0" err="1"/>
              <a:t>servisi</a:t>
            </a:r>
            <a:r>
              <a:rPr dirty="0"/>
              <a:t> </a:t>
            </a:r>
            <a:r>
              <a:rPr dirty="0" err="1"/>
              <a:t>gerektirmez</a:t>
            </a:r>
            <a:r>
              <a:rPr dirty="0"/>
              <a:t> → ek </a:t>
            </a:r>
            <a:r>
              <a:rPr dirty="0" err="1"/>
              <a:t>maliyet</a:t>
            </a:r>
            <a:r>
              <a:rPr dirty="0"/>
              <a:t> yok</a:t>
            </a:r>
          </a:p>
          <a:p>
            <a:pPr>
              <a:spcBef>
                <a:spcPts val="300"/>
              </a:spcBef>
              <a:defRPr sz="1400" b="0">
                <a:solidFill>
                  <a:srgbClr val="16A34A"/>
                </a:solidFill>
              </a:defRPr>
            </a:pPr>
            <a:r>
              <a:rPr dirty="0"/>
              <a:t>✅  Veri </a:t>
            </a:r>
            <a:r>
              <a:rPr dirty="0" err="1"/>
              <a:t>lokalize</a:t>
            </a:r>
            <a:r>
              <a:rPr dirty="0"/>
              <a:t> </a:t>
            </a:r>
            <a:r>
              <a:rPr dirty="0" err="1"/>
              <a:t>kalır</a:t>
            </a:r>
            <a:r>
              <a:rPr dirty="0"/>
              <a:t> → KVKK </a:t>
            </a:r>
            <a:r>
              <a:rPr dirty="0" err="1"/>
              <a:t>uyumlu</a:t>
            </a:r>
            <a:endParaRPr dirty="0"/>
          </a:p>
          <a:p>
            <a:pPr>
              <a:spcBef>
                <a:spcPts val="300"/>
              </a:spcBef>
              <a:defRPr sz="1400" b="0">
                <a:solidFill>
                  <a:srgbClr val="16A34A"/>
                </a:solidFill>
              </a:defRPr>
            </a:pPr>
            <a:r>
              <a:rPr dirty="0"/>
              <a:t>✅  Lokal embedding →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bankadan</a:t>
            </a:r>
            <a:r>
              <a:rPr dirty="0"/>
              <a:t> </a:t>
            </a:r>
            <a:r>
              <a:rPr dirty="0" err="1"/>
              <a:t>dışarı</a:t>
            </a:r>
            <a:r>
              <a:rPr dirty="0"/>
              <a:t> </a:t>
            </a:r>
            <a:r>
              <a:rPr dirty="0" err="1"/>
              <a:t>çıkmaz</a:t>
            </a:r>
            <a:endParaRPr dirty="0"/>
          </a:p>
          <a:p>
            <a:pPr>
              <a:spcBef>
                <a:spcPts val="300"/>
              </a:spcBef>
              <a:defRPr sz="1400" b="0">
                <a:solidFill>
                  <a:srgbClr val="16A34A"/>
                </a:solidFill>
              </a:defRPr>
            </a:pPr>
            <a:r>
              <a:rPr dirty="0"/>
              <a:t>✅  50+ </a:t>
            </a:r>
            <a:r>
              <a:rPr dirty="0" err="1"/>
              <a:t>dil</a:t>
            </a:r>
            <a:r>
              <a:rPr dirty="0"/>
              <a:t> </a:t>
            </a:r>
            <a:r>
              <a:rPr dirty="0" err="1"/>
              <a:t>desteği</a:t>
            </a:r>
            <a:r>
              <a:rPr dirty="0"/>
              <a:t> → </a:t>
            </a:r>
            <a:r>
              <a:rPr dirty="0" err="1"/>
              <a:t>ileride</a:t>
            </a:r>
            <a:r>
              <a:rPr dirty="0"/>
              <a:t> </a:t>
            </a:r>
            <a:r>
              <a:rPr dirty="0" err="1"/>
              <a:t>genişletilebilir</a:t>
            </a:r>
            <a:endParaRPr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FEE690F-3E90-FA72-5362-4163C79CF4DF}"/>
              </a:ext>
            </a:extLst>
          </p:cNvPr>
          <p:cNvSpPr/>
          <p:nvPr/>
        </p:nvSpPr>
        <p:spPr>
          <a:xfrm>
            <a:off x="5943600" y="1097280"/>
            <a:ext cx="27432" cy="4572000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9C87"/>
                </a:solidFill>
              </a:defRPr>
            </a:pPr>
            <a:r>
              <a:rPr dirty="0"/>
              <a:t>Knowledge-Augmented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rPr dirty="0"/>
              <a:t>90+ </a:t>
            </a:r>
            <a:r>
              <a:rPr dirty="0" err="1"/>
              <a:t>otoriter</a:t>
            </a:r>
            <a:r>
              <a:rPr dirty="0"/>
              <a:t> </a:t>
            </a:r>
            <a:r>
              <a:rPr dirty="0" err="1"/>
              <a:t>kaynak</a:t>
            </a:r>
            <a:r>
              <a:rPr dirty="0"/>
              <a:t> </a:t>
            </a:r>
            <a:r>
              <a:rPr dirty="0" err="1"/>
              <a:t>okundu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64748B"/>
                </a:solidFill>
              </a:defRPr>
            </a:pPr>
            <a:r>
              <a:rPr dirty="0"/>
              <a:t>558 yeni </a:t>
            </a:r>
            <a:r>
              <a:rPr dirty="0" err="1"/>
              <a:t>İngilizce</a:t>
            </a:r>
            <a:r>
              <a:rPr dirty="0"/>
              <a:t> + 441 yeni </a:t>
            </a:r>
            <a:r>
              <a:rPr dirty="0" err="1"/>
              <a:t>Türkçe</a:t>
            </a:r>
            <a:r>
              <a:rPr dirty="0"/>
              <a:t> </a:t>
            </a:r>
            <a:r>
              <a:rPr dirty="0" err="1"/>
              <a:t>terim</a:t>
            </a:r>
            <a:r>
              <a:rPr dirty="0"/>
              <a:t> </a:t>
            </a:r>
            <a:r>
              <a:rPr dirty="0" err="1"/>
              <a:t>çıkarıldı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64748B"/>
                </a:solidFill>
              </a:defRPr>
            </a:pPr>
            <a:r>
              <a:rPr dirty="0"/>
              <a:t>Her </a:t>
            </a:r>
            <a:r>
              <a:rPr dirty="0" err="1"/>
              <a:t>modelin</a:t>
            </a:r>
            <a:r>
              <a:rPr dirty="0"/>
              <a:t> keyword </a:t>
            </a:r>
            <a:r>
              <a:rPr dirty="0" err="1"/>
              <a:t>sayısı</a:t>
            </a:r>
            <a:r>
              <a:rPr dirty="0"/>
              <a:t> ~10 → ~27 (%170 </a:t>
            </a:r>
            <a:r>
              <a:rPr dirty="0" err="1"/>
              <a:t>artış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rPr dirty="0"/>
              <a:t>Multi-View </a:t>
            </a:r>
            <a:r>
              <a:rPr dirty="0" err="1"/>
              <a:t>Yaklaşımı</a:t>
            </a:r>
            <a:r>
              <a:rPr dirty="0"/>
              <a:t>:</a:t>
            </a:r>
          </a:p>
          <a:p>
            <a:pPr lvl="1">
              <a:spcBef>
                <a:spcPts val="300"/>
              </a:spcBef>
              <a:defRPr sz="1200" b="0">
                <a:solidFill>
                  <a:srgbClr val="64748B"/>
                </a:solidFill>
              </a:defRPr>
            </a:pPr>
            <a:r>
              <a:rPr dirty="0"/>
              <a:t>Short: </a:t>
            </a:r>
            <a:r>
              <a:rPr dirty="0" err="1"/>
              <a:t>sadece</a:t>
            </a:r>
            <a:r>
              <a:rPr dirty="0"/>
              <a:t> </a:t>
            </a:r>
            <a:r>
              <a:rPr dirty="0" err="1"/>
              <a:t>isim</a:t>
            </a:r>
            <a:r>
              <a:rPr dirty="0"/>
              <a:t> →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kelime</a:t>
            </a:r>
            <a:r>
              <a:rPr dirty="0"/>
              <a:t> </a:t>
            </a:r>
            <a:r>
              <a:rPr dirty="0" err="1"/>
              <a:t>sorgular</a:t>
            </a:r>
            <a:endParaRPr dirty="0"/>
          </a:p>
          <a:p>
            <a:pPr lvl="1">
              <a:spcBef>
                <a:spcPts val="300"/>
              </a:spcBef>
              <a:defRPr sz="1200" b="0">
                <a:solidFill>
                  <a:srgbClr val="64748B"/>
                </a:solidFill>
              </a:defRPr>
            </a:pPr>
            <a:r>
              <a:rPr dirty="0"/>
              <a:t>Normal: </a:t>
            </a:r>
            <a:r>
              <a:rPr dirty="0" err="1"/>
              <a:t>isim</a:t>
            </a:r>
            <a:r>
              <a:rPr dirty="0"/>
              <a:t> + </a:t>
            </a:r>
            <a:r>
              <a:rPr dirty="0" err="1"/>
              <a:t>amaç</a:t>
            </a:r>
            <a:r>
              <a:rPr dirty="0"/>
              <a:t> → </a:t>
            </a:r>
            <a:r>
              <a:rPr dirty="0" err="1"/>
              <a:t>orta</a:t>
            </a:r>
            <a:r>
              <a:rPr dirty="0"/>
              <a:t> </a:t>
            </a:r>
            <a:r>
              <a:rPr dirty="0" err="1"/>
              <a:t>uzunluk</a:t>
            </a:r>
            <a:endParaRPr dirty="0"/>
          </a:p>
          <a:p>
            <a:pPr lvl="1">
              <a:spcBef>
                <a:spcPts val="300"/>
              </a:spcBef>
              <a:defRPr sz="1200" b="0">
                <a:solidFill>
                  <a:srgbClr val="64748B"/>
                </a:solidFill>
              </a:defRPr>
            </a:pPr>
            <a:r>
              <a:rPr dirty="0"/>
              <a:t>Enriched: + keywords + </a:t>
            </a:r>
            <a:r>
              <a:rPr dirty="0" err="1"/>
              <a:t>standartlar</a:t>
            </a:r>
            <a:r>
              <a:rPr dirty="0"/>
              <a:t> → jargon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09728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Uzman Sorgusu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Bulunan Model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Skor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Tobit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LGD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SHAP churn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Churn Prediction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0.656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CDD EDD KYC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AML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Pareto/NBD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CLV Model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0.899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Jaro-Winkler fuzzy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Sanctions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Markowitz mean-var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Investment Rec.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0.791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Whisper Wav2Vec2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Speech-to-Text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59127" y="5102091"/>
            <a:ext cx="8473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rPr sz="1400" dirty="0"/>
              <a:t>10/12 </a:t>
            </a:r>
            <a:r>
              <a:rPr sz="1400" dirty="0" err="1"/>
              <a:t>doğru</a:t>
            </a:r>
            <a:r>
              <a:rPr sz="1400" dirty="0"/>
              <a:t> </a:t>
            </a:r>
            <a:r>
              <a:rPr sz="1400" dirty="0" err="1"/>
              <a:t>eşleşme</a:t>
            </a:r>
            <a:r>
              <a:rPr sz="1400" dirty="0"/>
              <a:t> (%83)</a:t>
            </a:r>
            <a:br>
              <a:rPr lang="tr-TR" sz="1400" dirty="0"/>
            </a:br>
            <a:br>
              <a:rPr lang="tr-TR" sz="1400" dirty="0"/>
            </a:br>
            <a:r>
              <a:rPr lang="en-US" sz="1400" dirty="0"/>
              <a:t>"</a:t>
            </a:r>
            <a:r>
              <a:rPr lang="en-US" sz="1400" dirty="0" err="1"/>
              <a:t>Sistem</a:t>
            </a:r>
            <a:r>
              <a:rPr lang="en-US" sz="1400" dirty="0"/>
              <a:t> </a:t>
            </a:r>
            <a:r>
              <a:rPr lang="en-US" sz="1400" dirty="0" err="1"/>
              <a:t>sadece</a:t>
            </a:r>
            <a:r>
              <a:rPr lang="en-US" sz="1400" dirty="0"/>
              <a:t> </a:t>
            </a:r>
            <a:r>
              <a:rPr lang="en-US" sz="1400" dirty="0" err="1"/>
              <a:t>basit</a:t>
            </a:r>
            <a:r>
              <a:rPr lang="en-US" sz="1400" dirty="0"/>
              <a:t> </a:t>
            </a:r>
            <a:r>
              <a:rPr lang="en-US" sz="1400" dirty="0" err="1"/>
              <a:t>cümleleri</a:t>
            </a:r>
            <a:r>
              <a:rPr lang="en-US" sz="1400" dirty="0"/>
              <a:t> </a:t>
            </a:r>
            <a:r>
              <a:rPr lang="en-US" sz="1400" dirty="0" err="1"/>
              <a:t>değil</a:t>
            </a:r>
            <a:r>
              <a:rPr lang="en-US" sz="1400" dirty="0"/>
              <a:t>, </a:t>
            </a:r>
            <a:r>
              <a:rPr lang="en-US" sz="1400" dirty="0" err="1"/>
              <a:t>uzman</a:t>
            </a:r>
            <a:r>
              <a:rPr lang="en-US" sz="1400" dirty="0"/>
              <a:t> </a:t>
            </a:r>
            <a:r>
              <a:rPr lang="en-US" sz="1400" dirty="0" err="1"/>
              <a:t>terminolojisini</a:t>
            </a:r>
            <a:r>
              <a:rPr lang="en-US" sz="1400" dirty="0"/>
              <a:t> de </a:t>
            </a:r>
            <a:r>
              <a:rPr lang="en-US" sz="1400" dirty="0" err="1"/>
              <a:t>tanıyor</a:t>
            </a:r>
            <a:r>
              <a:rPr lang="en-US" sz="1400" dirty="0"/>
              <a:t> </a:t>
            </a:r>
            <a:r>
              <a:rPr lang="en-US" sz="1400" dirty="0" err="1"/>
              <a:t>çünkü</a:t>
            </a:r>
            <a:r>
              <a:rPr lang="tr-TR" sz="1400" dirty="0"/>
              <a:t> </a:t>
            </a:r>
            <a:r>
              <a:rPr lang="en-US" sz="1400" dirty="0" err="1"/>
              <a:t>gerçek</a:t>
            </a:r>
            <a:r>
              <a:rPr lang="en-US" sz="1400" dirty="0"/>
              <a:t> </a:t>
            </a:r>
            <a:r>
              <a:rPr lang="en-US" sz="1400" dirty="0" err="1"/>
              <a:t>kaynaklardan</a:t>
            </a:r>
            <a:r>
              <a:rPr lang="en-US" sz="1400" dirty="0"/>
              <a:t> </a:t>
            </a:r>
            <a:r>
              <a:rPr lang="en-US" sz="1400" dirty="0" err="1"/>
              <a:t>öğrendi</a:t>
            </a:r>
            <a:r>
              <a:rPr lang="tr-TR" sz="1400" dirty="0"/>
              <a:t>. </a:t>
            </a:r>
            <a:r>
              <a:rPr lang="tr-TR" sz="1400" dirty="0" err="1"/>
              <a:t>Enriched</a:t>
            </a:r>
            <a:r>
              <a:rPr sz="1400" dirty="0"/>
              <a:t> </a:t>
            </a:r>
            <a:r>
              <a:rPr sz="1400" dirty="0" err="1"/>
              <a:t>olmadan</a:t>
            </a:r>
            <a:r>
              <a:rPr sz="1400" dirty="0"/>
              <a:t> </a:t>
            </a:r>
            <a:r>
              <a:rPr sz="1400" dirty="0" err="1"/>
              <a:t>bu</a:t>
            </a:r>
            <a:r>
              <a:rPr sz="1400" dirty="0"/>
              <a:t> </a:t>
            </a:r>
            <a:r>
              <a:rPr sz="1400" dirty="0" err="1"/>
              <a:t>terimlerin</a:t>
            </a:r>
            <a:r>
              <a:rPr sz="1400" dirty="0"/>
              <a:t> </a:t>
            </a:r>
            <a:r>
              <a:rPr sz="1400" dirty="0" err="1"/>
              <a:t>hiçbiri</a:t>
            </a:r>
            <a:r>
              <a:rPr sz="1400" dirty="0"/>
              <a:t> </a:t>
            </a:r>
            <a:r>
              <a:rPr sz="1400" dirty="0" err="1"/>
              <a:t>bulunamazdı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9C87"/>
                </a:solidFill>
              </a:defRPr>
            </a:pPr>
            <a:r>
              <a:t>3-Skorlu Kalite Sistemi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507700"/>
              </p:ext>
            </p:extLst>
          </p:nvPr>
        </p:nvGraphicFramePr>
        <p:xfrm>
          <a:off x="457200" y="1097280"/>
          <a:ext cx="10972800" cy="235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Skor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Kriter Sayısı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Ne Ölçer?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Ortalama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Açıklama Kalitesi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8 </a:t>
                      </a:r>
                      <a:r>
                        <a:rPr dirty="0" err="1"/>
                        <a:t>kriter</a:t>
                      </a:r>
                      <a:r>
                        <a:rPr dirty="0"/>
                        <a:t> (100</a:t>
                      </a:r>
                      <a:r>
                        <a:rPr lang="tr-TR" dirty="0"/>
                        <a:t> </a:t>
                      </a:r>
                      <a:r>
                        <a:rPr dirty="0"/>
                        <a:t>p</a:t>
                      </a:r>
                      <a:r>
                        <a:rPr lang="tr-TR" dirty="0" err="1"/>
                        <a:t>uan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Uzunluk, aksiyon fiili, veri kaynağı, sonuç, algoritma, regülasyon, iş değeri, hedef kullanıcı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Bulunabilirlik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 kriter (AI-based)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İsim-açıklama uyumu (embedding), ayırt edicilik, TR-EN tutarlılık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84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Zenginleştirme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 kriter (zorlaştırılmış)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Keyword </a:t>
                      </a:r>
                      <a:r>
                        <a:rPr dirty="0" err="1"/>
                        <a:t>zenginliği</a:t>
                      </a:r>
                      <a:r>
                        <a:rPr dirty="0"/>
                        <a:t> (≥40), </a:t>
                      </a:r>
                      <a:r>
                        <a:rPr dirty="0" err="1"/>
                        <a:t>kaynak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sayısı</a:t>
                      </a:r>
                      <a:r>
                        <a:rPr dirty="0"/>
                        <a:t> (≥5), </a:t>
                      </a:r>
                      <a:r>
                        <a:rPr dirty="0" err="1"/>
                        <a:t>standart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referansları</a:t>
                      </a:r>
                      <a:r>
                        <a:rPr dirty="0"/>
                        <a:t> (≥5)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rPr dirty="0" err="1"/>
              <a:t>Neden</a:t>
            </a:r>
            <a:r>
              <a:rPr dirty="0"/>
              <a:t> 3 </a:t>
            </a:r>
            <a:r>
              <a:rPr dirty="0" err="1"/>
              <a:t>Ayrı</a:t>
            </a:r>
            <a:r>
              <a:rPr dirty="0"/>
              <a:t> Skor?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 sz="1400" b="0">
                <a:solidFill>
                  <a:srgbClr val="64748B"/>
                </a:solidFill>
              </a:defRPr>
            </a:pPr>
            <a:r>
              <a:rPr dirty="0"/>
              <a:t>Tek </a:t>
            </a:r>
            <a:r>
              <a:rPr dirty="0" err="1"/>
              <a:t>skor</a:t>
            </a:r>
            <a:r>
              <a:rPr dirty="0"/>
              <a:t> her </a:t>
            </a:r>
            <a:r>
              <a:rPr dirty="0" err="1"/>
              <a:t>şeyi</a:t>
            </a:r>
            <a:r>
              <a:rPr dirty="0"/>
              <a:t> </a:t>
            </a:r>
            <a:r>
              <a:rPr dirty="0" err="1"/>
              <a:t>anlatamaz</a:t>
            </a:r>
            <a:endParaRPr dirty="0"/>
          </a:p>
          <a:p>
            <a:pPr algn="ctr">
              <a:spcBef>
                <a:spcPts val="300"/>
              </a:spcBef>
              <a:defRPr sz="1400" b="0">
                <a:solidFill>
                  <a:srgbClr val="64748B"/>
                </a:solidFill>
              </a:defRPr>
            </a:pPr>
            <a:r>
              <a:rPr dirty="0"/>
              <a:t>İyi </a:t>
            </a:r>
            <a:r>
              <a:rPr dirty="0" err="1"/>
              <a:t>yazılmış</a:t>
            </a:r>
            <a:r>
              <a:rPr dirty="0"/>
              <a:t> ama </a:t>
            </a:r>
            <a:r>
              <a:rPr dirty="0" err="1"/>
              <a:t>bulunamayan</a:t>
            </a:r>
            <a:r>
              <a:rPr dirty="0"/>
              <a:t> model ≠ </a:t>
            </a:r>
            <a:r>
              <a:rPr dirty="0" err="1"/>
              <a:t>kötü</a:t>
            </a:r>
            <a:r>
              <a:rPr dirty="0"/>
              <a:t> </a:t>
            </a:r>
            <a:r>
              <a:rPr dirty="0" err="1"/>
              <a:t>yazılmış</a:t>
            </a:r>
            <a:r>
              <a:rPr dirty="0"/>
              <a:t> ama </a:t>
            </a:r>
            <a:r>
              <a:rPr dirty="0" err="1"/>
              <a:t>bulunan</a:t>
            </a:r>
            <a:r>
              <a:rPr dirty="0"/>
              <a:t> model</a:t>
            </a:r>
            <a:endParaRPr lang="tr-TR" dirty="0"/>
          </a:p>
          <a:p>
            <a:pPr algn="ctr">
              <a:spcBef>
                <a:spcPts val="300"/>
              </a:spcBef>
              <a:defRPr sz="1400" b="0">
                <a:solidFill>
                  <a:srgbClr val="64748B"/>
                </a:solidFill>
              </a:defRPr>
            </a:pPr>
            <a:endParaRPr dirty="0"/>
          </a:p>
          <a:p>
            <a:pPr algn="ctr">
              <a:spcBef>
                <a:spcPts val="300"/>
              </a:spcBef>
              <a:defRPr sz="1400" b="1">
                <a:solidFill>
                  <a:srgbClr val="1A9C87"/>
                </a:solidFill>
              </a:defRPr>
            </a:pPr>
            <a:r>
              <a:rPr dirty="0" err="1"/>
              <a:t>Farklı</a:t>
            </a:r>
            <a:r>
              <a:rPr dirty="0"/>
              <a:t> </a:t>
            </a:r>
            <a:r>
              <a:rPr dirty="0" err="1"/>
              <a:t>aksiyonlar</a:t>
            </a:r>
            <a:r>
              <a:rPr dirty="0"/>
              <a:t> </a:t>
            </a:r>
            <a:r>
              <a:rPr dirty="0" err="1"/>
              <a:t>gerektirir</a:t>
            </a:r>
            <a:r>
              <a:rPr dirty="0"/>
              <a:t> → 3 </a:t>
            </a:r>
            <a:r>
              <a:rPr dirty="0" err="1"/>
              <a:t>boyutlu</a:t>
            </a:r>
            <a:r>
              <a:rPr dirty="0"/>
              <a:t> </a:t>
            </a:r>
            <a:r>
              <a:rPr dirty="0" err="1"/>
              <a:t>denetim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9C87"/>
                </a:solidFill>
              </a:defRPr>
            </a:pPr>
            <a:r>
              <a:t>Kaynak Doğrulama — 80+ Otoriter Referans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Kaynak Tipi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Örnekler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Düzenleyici Kuruluşlar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Basel III (BIS), FATF, MASAK 5549, BDDK, OFAC, ECB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Endüstri Liderleri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FICO, IBM, BioCatch, Feedzai, Vanguard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Akademik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Nature, IEEE, Springer, ScienceDirect, arXiv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Türk Bankacılığı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Akbank 750 GPU yatırımı, Yapı Kredi AI İlkeleri, Sabancı Üni.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rPr lang="tr-TR" dirty="0"/>
              <a:t>Model açıklamaları, uluslararası düzenleyici standartlar (BIS, FATF, OFAC), ulusal mevzuat (MASAK, BDDK) ve hakemli bilimsel kaynaklar (IEEE, Nature, </a:t>
            </a:r>
            <a:r>
              <a:rPr lang="tr-TR" dirty="0" err="1"/>
              <a:t>Springer</a:t>
            </a:r>
            <a:r>
              <a:rPr lang="tr-TR" dirty="0"/>
              <a:t>) çerçevesinde doğrulanmıştır.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9C87"/>
                </a:solidFill>
              </a:defRPr>
            </a:pPr>
            <a:r>
              <a:t>A/B Test Sonuçları — +%44.7 İyileşme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Eski Sistem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Yeni Sistem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İyileşme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"fraud" (1 kelime)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+44%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"OFAC" (jargon)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0.639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+60%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"KKB raporu..."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+57%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EN cross-lingual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0.873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+18%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TR uzun, doğal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+18%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"PCI-DSS kart fraud"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0.864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+73%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rPr dirty="0"/>
              <a:t>6/6 </a:t>
            </a:r>
            <a:r>
              <a:rPr dirty="0" err="1"/>
              <a:t>testte</a:t>
            </a:r>
            <a:r>
              <a:rPr dirty="0"/>
              <a:t> </a:t>
            </a:r>
            <a:r>
              <a:rPr dirty="0" err="1"/>
              <a:t>iyileşme</a:t>
            </a:r>
            <a:r>
              <a:rPr dirty="0"/>
              <a:t>  |  </a:t>
            </a:r>
            <a:r>
              <a:rPr dirty="0" err="1"/>
              <a:t>Sıfır</a:t>
            </a:r>
            <a:r>
              <a:rPr dirty="0"/>
              <a:t> </a:t>
            </a:r>
            <a:r>
              <a:rPr dirty="0" err="1"/>
              <a:t>gerileme</a:t>
            </a:r>
            <a:r>
              <a:rPr dirty="0"/>
              <a:t>  |  </a:t>
            </a:r>
            <a:r>
              <a:rPr lang="en-US" dirty="0" err="1"/>
              <a:t>Alakasız</a:t>
            </a:r>
            <a:r>
              <a:rPr lang="en-US" dirty="0"/>
              <a:t> </a:t>
            </a:r>
            <a:r>
              <a:rPr lang="en-US" dirty="0" err="1"/>
              <a:t>sorgular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reddediliyor</a:t>
            </a:r>
            <a:r>
              <a:rPr lang="en-US" dirty="0"/>
              <a:t> (</a:t>
            </a:r>
            <a:r>
              <a:rPr lang="en-US" dirty="0" err="1"/>
              <a:t>yanlış</a:t>
            </a:r>
            <a:r>
              <a:rPr lang="en-US" dirty="0"/>
              <a:t> </a:t>
            </a:r>
            <a:r>
              <a:rPr lang="en-US" dirty="0" err="1"/>
              <a:t>pozitif</a:t>
            </a:r>
            <a:r>
              <a:rPr lang="en-US" dirty="0"/>
              <a:t> yok)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9C87"/>
                </a:solidFill>
              </a:defRPr>
            </a:pPr>
            <a:r>
              <a:t>Genelleştirme Testi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Doğruluk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Örnek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Kritik Bulgu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Yakın (farklı ifade)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%75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"Müşteri memnuniyetsizliği ölçümü" → Sentiment 0.829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Detaylı yazıldığında mükemmel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Benzer ama farklı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%67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"Kurumsal kredi risk" → EAD 0.827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İlgili aileye yönlendiriyor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Yeni model (yok)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%100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"Karbon ayak izi" → 0.480 (new)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Kesin red, yanlış pozitif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envanterdeki</a:t>
            </a:r>
            <a:r>
              <a:rPr dirty="0"/>
              <a:t> </a:t>
            </a:r>
            <a:r>
              <a:rPr dirty="0" err="1"/>
              <a:t>modelleri</a:t>
            </a:r>
            <a:r>
              <a:rPr dirty="0"/>
              <a:t> %83 </a:t>
            </a:r>
            <a:r>
              <a:rPr dirty="0" err="1"/>
              <a:t>doğrulukla</a:t>
            </a:r>
            <a:r>
              <a:rPr dirty="0"/>
              <a:t> </a:t>
            </a:r>
            <a:r>
              <a:rPr dirty="0" err="1"/>
              <a:t>buluyor</a:t>
            </a:r>
            <a:r>
              <a:rPr dirty="0"/>
              <a:t>; </a:t>
            </a:r>
            <a:r>
              <a:rPr dirty="0" err="1"/>
              <a:t>olmayanları</a:t>
            </a:r>
            <a:r>
              <a:rPr dirty="0"/>
              <a:t> %100 </a:t>
            </a:r>
            <a:r>
              <a:rPr dirty="0" err="1"/>
              <a:t>doğrulukla</a:t>
            </a:r>
            <a:r>
              <a:rPr dirty="0"/>
              <a:t> </a:t>
            </a:r>
            <a:r>
              <a:rPr dirty="0" err="1"/>
              <a:t>reddediyor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9C87"/>
                </a:solidFill>
              </a:defRPr>
            </a:pPr>
            <a:r>
              <a:rPr lang="en-US" dirty="0" err="1"/>
              <a:t>Teknoloji</a:t>
            </a:r>
            <a:r>
              <a:rPr lang="en-US" dirty="0"/>
              <a:t> </a:t>
            </a:r>
            <a:r>
              <a:rPr lang="en-US" dirty="0" err="1"/>
              <a:t>Kararları</a:t>
            </a:r>
            <a:r>
              <a:rPr lang="en-US" dirty="0"/>
              <a:t> —</a:t>
            </a:r>
            <a:r>
              <a:rPr lang="tr-TR" dirty="0"/>
              <a:t> </a:t>
            </a:r>
            <a:r>
              <a:rPr dirty="0" err="1"/>
              <a:t>Neyi</a:t>
            </a:r>
            <a:r>
              <a:rPr dirty="0"/>
              <a:t> </a:t>
            </a:r>
            <a:r>
              <a:rPr dirty="0" err="1"/>
              <a:t>Neden</a:t>
            </a:r>
            <a:r>
              <a:rPr dirty="0"/>
              <a:t> </a:t>
            </a:r>
            <a:r>
              <a:rPr dirty="0" err="1"/>
              <a:t>Seçti</a:t>
            </a:r>
            <a:r>
              <a:rPr lang="tr-TR" dirty="0"/>
              <a:t>m</a:t>
            </a:r>
            <a:r>
              <a:rPr dirty="0"/>
              <a:t>?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Karar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Seçim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Neden?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Alternatif Neden Değil?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Lokal MiniLM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Veri dışarı çıkmaz (KVKK)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OpenAI API: veri dışarı çıkar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Tek model yetmedi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3-Aşamalı RAG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Kısa sorguda %42, jargonda %40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Tek model jargon bulamıyordu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BM25 ekledik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Keyword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OFAC, KKB exact match gerekli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Sadece semantic: jargon %40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Cross-Encoder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mmarco multilingual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Presizyon artışı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Bi-encoder yanlış pozitif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Next.js + 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Production-grade, type-safe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Streamlit: prototip görünümü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FastAPI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Swagger otomatik, modern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Flask eski, Django ağır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 Ayrı Skor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Açıklama+Bulunabilirlik+Zenginleştirme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Tek skor her şeyi anlatamaz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Farklı aksiyonlar gerektirir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9C87"/>
                </a:solidFill>
              </a:defRPr>
            </a:pPr>
            <a:r>
              <a:t>Geliştirme Süreci — v0.1.0 → v0.2.17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</a:defRPr>
            </a:pPr>
            <a:r>
              <a:rPr dirty="0"/>
              <a:t>v0.1.x — TEK MODEL (Bi-Encoder)</a:t>
            </a:r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v0.1.0  </a:t>
            </a:r>
            <a:r>
              <a:rPr dirty="0" err="1"/>
              <a:t>Proje</a:t>
            </a:r>
            <a:r>
              <a:rPr dirty="0"/>
              <a:t> </a:t>
            </a:r>
            <a:r>
              <a:rPr dirty="0" err="1"/>
              <a:t>iskeleti</a:t>
            </a:r>
            <a:r>
              <a:rPr dirty="0"/>
              <a:t> + 30 model CSV</a:t>
            </a:r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v0.1.1  </a:t>
            </a:r>
            <a:r>
              <a:rPr dirty="0" err="1"/>
              <a:t>FastAPI</a:t>
            </a:r>
            <a:r>
              <a:rPr dirty="0"/>
              <a:t> backend</a:t>
            </a:r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v0.1.2  Self-validation</a:t>
            </a:r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v0.1.3  Next.js frontend</a:t>
            </a:r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v0.1.4  E2E </a:t>
            </a:r>
            <a:r>
              <a:rPr dirty="0" err="1"/>
              <a:t>entegrasyon</a:t>
            </a:r>
            <a:endParaRPr dirty="0"/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v0.1.5  </a:t>
            </a:r>
            <a:r>
              <a:rPr dirty="0" err="1"/>
              <a:t>Dokümantasyon</a:t>
            </a:r>
            <a:endParaRPr dirty="0"/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v0.1.6  Kaynak </a:t>
            </a:r>
            <a:r>
              <a:rPr dirty="0" err="1"/>
              <a:t>araştırması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</a:defRPr>
            </a:pPr>
            <a:r>
              <a:rPr dirty="0"/>
              <a:t>v0.2.x — HİBRİT RAG</a:t>
            </a:r>
          </a:p>
          <a:p>
            <a:pPr lvl="1">
              <a:spcBef>
                <a:spcPts val="300"/>
              </a:spcBef>
              <a:defRPr sz="1100" b="1">
                <a:solidFill>
                  <a:srgbClr val="1A9C87"/>
                </a:solidFill>
              </a:defRPr>
            </a:pPr>
            <a:r>
              <a:rPr dirty="0"/>
              <a:t>v0.2.0  3-Aşamalı RAG </a:t>
            </a:r>
            <a:r>
              <a:rPr dirty="0" err="1"/>
              <a:t>mimarisi</a:t>
            </a:r>
            <a:endParaRPr dirty="0"/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v0.2.1-2  Kaynak </a:t>
            </a:r>
            <a:r>
              <a:rPr dirty="0" err="1"/>
              <a:t>zenginleştirme</a:t>
            </a:r>
            <a:r>
              <a:rPr dirty="0"/>
              <a:t> + </a:t>
            </a:r>
            <a:r>
              <a:rPr dirty="0" err="1"/>
              <a:t>linkler</a:t>
            </a:r>
            <a:endParaRPr dirty="0"/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v0.2.3  Enrichment dashboard</a:t>
            </a:r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v0.2.4  </a:t>
            </a:r>
            <a:r>
              <a:rPr dirty="0" err="1"/>
              <a:t>Departman</a:t>
            </a:r>
            <a:r>
              <a:rPr dirty="0"/>
              <a:t>, </a:t>
            </a:r>
            <a:r>
              <a:rPr dirty="0" err="1"/>
              <a:t>öncelik</a:t>
            </a:r>
            <a:r>
              <a:rPr dirty="0"/>
              <a:t>, e-</a:t>
            </a:r>
            <a:r>
              <a:rPr dirty="0" err="1"/>
              <a:t>posta</a:t>
            </a:r>
            <a:endParaRPr dirty="0"/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v0.2.5  Login + branding</a:t>
            </a:r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v0.2.6-7  </a:t>
            </a:r>
            <a:r>
              <a:rPr dirty="0" err="1"/>
              <a:t>Talep</a:t>
            </a:r>
            <a:r>
              <a:rPr dirty="0"/>
              <a:t> </a:t>
            </a:r>
            <a:r>
              <a:rPr dirty="0" err="1"/>
              <a:t>geçmişi</a:t>
            </a:r>
            <a:r>
              <a:rPr dirty="0"/>
              <a:t> + UX polish</a:t>
            </a:r>
          </a:p>
          <a:p>
            <a:pPr lvl="1">
              <a:spcBef>
                <a:spcPts val="300"/>
              </a:spcBef>
              <a:defRPr sz="1100" b="0">
                <a:solidFill>
                  <a:srgbClr val="64748B"/>
                </a:solidFill>
              </a:defRPr>
            </a:pPr>
            <a:r>
              <a:rPr dirty="0"/>
              <a:t>v0.2.8-16  </a:t>
            </a:r>
            <a:r>
              <a:rPr dirty="0" err="1"/>
              <a:t>Detay</a:t>
            </a:r>
            <a:r>
              <a:rPr dirty="0"/>
              <a:t> </a:t>
            </a:r>
            <a:r>
              <a:rPr dirty="0" err="1"/>
              <a:t>iyileştirmeler</a:t>
            </a:r>
            <a:endParaRPr dirty="0"/>
          </a:p>
          <a:p>
            <a:pPr lvl="1">
              <a:spcBef>
                <a:spcPts val="300"/>
              </a:spcBef>
              <a:defRPr sz="1100" b="1">
                <a:solidFill>
                  <a:srgbClr val="1A9C87"/>
                </a:solidFill>
              </a:defRPr>
            </a:pPr>
            <a:r>
              <a:rPr dirty="0"/>
              <a:t>v0.2.17  3-Skorlu </a:t>
            </a:r>
            <a:r>
              <a:rPr dirty="0" err="1"/>
              <a:t>kalite</a:t>
            </a:r>
            <a:r>
              <a:rPr dirty="0"/>
              <a:t> + </a:t>
            </a:r>
            <a:r>
              <a:rPr dirty="0" err="1"/>
              <a:t>gereklilikler</a:t>
            </a:r>
            <a:endParaRPr dirty="0"/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600" b="1">
                <a:solidFill>
                  <a:srgbClr val="16A34A"/>
                </a:solidFill>
              </a:defRPr>
            </a:pPr>
            <a:endParaRPr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3C35EAF-F741-5737-CE6F-0D710E760A40}"/>
              </a:ext>
            </a:extLst>
          </p:cNvPr>
          <p:cNvSpPr/>
          <p:nvPr/>
        </p:nvSpPr>
        <p:spPr>
          <a:xfrm>
            <a:off x="5943600" y="1097280"/>
            <a:ext cx="27432" cy="4572000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9C87"/>
                </a:solidFill>
              </a:defRPr>
            </a:pPr>
            <a:r>
              <a:t>Mühendislik Dürüstlüğü — Bug Hikayesi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43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</a:defRPr>
            </a:pPr>
            <a:r>
              <a:rPr dirty="0" err="1"/>
              <a:t>Yaşanan</a:t>
            </a:r>
            <a:r>
              <a:rPr dirty="0"/>
              <a:t> Olay:</a:t>
            </a:r>
          </a:p>
          <a:p>
            <a:pPr>
              <a:spcBef>
                <a:spcPts val="300"/>
              </a:spcBef>
              <a:defRPr sz="1400" b="0">
                <a:solidFill>
                  <a:srgbClr val="64748B"/>
                </a:solidFill>
              </a:defRPr>
            </a:pPr>
            <a:r>
              <a:rPr dirty="0"/>
              <a:t>İlk A/B </a:t>
            </a:r>
            <a:r>
              <a:rPr dirty="0" err="1"/>
              <a:t>testimde</a:t>
            </a:r>
            <a:r>
              <a:rPr dirty="0"/>
              <a:t> </a:t>
            </a:r>
            <a:r>
              <a:rPr dirty="0" err="1"/>
              <a:t>uzun</a:t>
            </a:r>
            <a:r>
              <a:rPr dirty="0"/>
              <a:t> </a:t>
            </a:r>
            <a:r>
              <a:rPr dirty="0" err="1"/>
              <a:t>Türkçe</a:t>
            </a:r>
            <a:r>
              <a:rPr dirty="0"/>
              <a:t> </a:t>
            </a:r>
            <a:r>
              <a:rPr dirty="0" err="1"/>
              <a:t>sorgu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eski</a:t>
            </a:r>
            <a:r>
              <a:rPr dirty="0"/>
              <a:t> </a:t>
            </a:r>
            <a:r>
              <a:rPr dirty="0" err="1"/>
              <a:t>sürümden</a:t>
            </a:r>
            <a:r>
              <a:rPr dirty="0"/>
              <a:t> %17 </a:t>
            </a:r>
            <a:r>
              <a:rPr dirty="0" err="1"/>
              <a:t>daha</a:t>
            </a:r>
            <a:r>
              <a:rPr dirty="0"/>
              <a:t> </a:t>
            </a:r>
            <a:r>
              <a:rPr dirty="0" err="1"/>
              <a:t>düşük</a:t>
            </a:r>
            <a:r>
              <a:rPr dirty="0"/>
              <a:t> </a:t>
            </a:r>
            <a:r>
              <a:rPr dirty="0" err="1"/>
              <a:t>skor</a:t>
            </a:r>
            <a:r>
              <a:rPr dirty="0"/>
              <a:t> </a:t>
            </a:r>
            <a:r>
              <a:rPr dirty="0" err="1"/>
              <a:t>gibi</a:t>
            </a:r>
            <a:r>
              <a:rPr dirty="0"/>
              <a:t> </a:t>
            </a:r>
            <a:r>
              <a:rPr dirty="0" err="1"/>
              <a:t>göründü</a:t>
            </a:r>
            <a:r>
              <a:rPr dirty="0"/>
              <a:t>.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</a:defRPr>
            </a:pPr>
            <a:r>
              <a:rPr dirty="0" err="1"/>
              <a:t>Detaylı</a:t>
            </a:r>
            <a:r>
              <a:rPr dirty="0"/>
              <a:t> Debug:</a:t>
            </a:r>
          </a:p>
          <a:p>
            <a:pPr>
              <a:spcBef>
                <a:spcPts val="300"/>
              </a:spcBef>
              <a:defRPr sz="1400" b="0">
                <a:solidFill>
                  <a:srgbClr val="64748B"/>
                </a:solidFill>
              </a:defRPr>
            </a:pPr>
            <a:r>
              <a:rPr dirty="0"/>
              <a:t>API </a:t>
            </a:r>
            <a:r>
              <a:rPr dirty="0" err="1"/>
              <a:t>sonucu</a:t>
            </a:r>
            <a:r>
              <a:rPr dirty="0"/>
              <a:t>: 0.45 — Manuel </a:t>
            </a:r>
            <a:r>
              <a:rPr dirty="0" err="1"/>
              <a:t>hesaplama</a:t>
            </a:r>
            <a:r>
              <a:rPr dirty="0"/>
              <a:t>: 0.45 — </a:t>
            </a:r>
            <a:r>
              <a:rPr dirty="0" err="1"/>
              <a:t>Türkçe</a:t>
            </a:r>
            <a:r>
              <a:rPr dirty="0"/>
              <a:t> </a:t>
            </a:r>
            <a:r>
              <a:rPr dirty="0" err="1"/>
              <a:t>diakritikli</a:t>
            </a:r>
            <a:r>
              <a:rPr dirty="0"/>
              <a:t>: 0.77!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800" b="1">
                <a:solidFill>
                  <a:srgbClr val="DC2626"/>
                </a:solidFill>
              </a:defRPr>
            </a:pPr>
            <a:r>
              <a:rPr dirty="0"/>
              <a:t>Kök </a:t>
            </a:r>
            <a:r>
              <a:rPr dirty="0" err="1"/>
              <a:t>Neden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400" b="0">
                <a:solidFill>
                  <a:srgbClr val="DC2626"/>
                </a:solidFill>
              </a:defRPr>
            </a:pPr>
            <a:r>
              <a:rPr lang="tr-TR" dirty="0"/>
              <a:t>Test ortamı ≠ </a:t>
            </a:r>
            <a:r>
              <a:rPr lang="tr-TR" dirty="0" err="1"/>
              <a:t>Production</a:t>
            </a:r>
            <a:r>
              <a:rPr lang="tr-TR" dirty="0"/>
              <a:t> ortamı: Windows </a:t>
            </a:r>
            <a:r>
              <a:rPr lang="tr-TR" dirty="0" err="1"/>
              <a:t>CLI'da</a:t>
            </a:r>
            <a:r>
              <a:rPr lang="tr-TR" dirty="0"/>
              <a:t> test etmek tarayıcıdaki gerçek kullanımı yansıtmıyor. </a:t>
            </a:r>
            <a:br>
              <a:rPr lang="tr-TR" dirty="0"/>
            </a:br>
            <a:r>
              <a:rPr lang="tr-TR" dirty="0" err="1"/>
              <a:t>Multilingual</a:t>
            </a:r>
            <a:r>
              <a:rPr lang="tr-TR" dirty="0"/>
              <a:t> model için bu iki yazım, iki farklı kelime anlamına gelir: </a:t>
            </a:r>
            <a:r>
              <a:rPr lang="en-US" dirty="0"/>
              <a:t>"</a:t>
            </a:r>
            <a:r>
              <a:rPr lang="en-US" dirty="0" err="1"/>
              <a:t>Musteri</a:t>
            </a:r>
            <a:r>
              <a:rPr lang="en-US" dirty="0"/>
              <a:t>" ≠ "</a:t>
            </a:r>
            <a:r>
              <a:rPr lang="en-US" dirty="0" err="1"/>
              <a:t>Müşteri</a:t>
            </a:r>
            <a:r>
              <a:rPr lang="en-US" dirty="0"/>
              <a:t> «</a:t>
            </a:r>
            <a:br>
              <a:rPr lang="tr-TR" dirty="0"/>
            </a:br>
            <a:endParaRPr dirty="0"/>
          </a:p>
          <a:p>
            <a:pPr>
              <a:spcBef>
                <a:spcPts val="300"/>
              </a:spcBef>
              <a:defRPr sz="1800" b="1">
                <a:solidFill>
                  <a:srgbClr val="16A34A"/>
                </a:solidFill>
              </a:defRPr>
            </a:pPr>
            <a:r>
              <a:rPr dirty="0" err="1"/>
              <a:t>Düzeltme</a:t>
            </a:r>
            <a:r>
              <a:rPr dirty="0"/>
              <a:t> </a:t>
            </a:r>
            <a:r>
              <a:rPr dirty="0" err="1"/>
              <a:t>Sonrası</a:t>
            </a:r>
            <a:r>
              <a:rPr dirty="0"/>
              <a:t>: 0.756 → 0.894 (+%18 </a:t>
            </a:r>
            <a:r>
              <a:rPr dirty="0" err="1"/>
              <a:t>artış</a:t>
            </a:r>
            <a:r>
              <a:rPr dirty="0"/>
              <a:t>) ✅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600" b="1">
                <a:solidFill>
                  <a:srgbClr val="1A9C87"/>
                </a:solidFill>
              </a:defRPr>
            </a:pPr>
            <a:r>
              <a:rPr dirty="0"/>
              <a:t>Ders: "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bozuk</a:t>
            </a:r>
            <a:r>
              <a:rPr dirty="0"/>
              <a:t>" </a:t>
            </a:r>
            <a:r>
              <a:rPr dirty="0" err="1"/>
              <a:t>demeden</a:t>
            </a:r>
            <a:r>
              <a:rPr dirty="0"/>
              <a:t> </a:t>
            </a:r>
            <a:r>
              <a:rPr dirty="0" err="1"/>
              <a:t>önce</a:t>
            </a:r>
            <a:r>
              <a:rPr dirty="0"/>
              <a:t> "Test </a:t>
            </a:r>
            <a:r>
              <a:rPr lang="tr-TR" dirty="0"/>
              <a:t>verim doğru </a:t>
            </a:r>
            <a:r>
              <a:rPr dirty="0"/>
              <a:t>m</a:t>
            </a:r>
            <a:r>
              <a:rPr lang="tr-TR" dirty="0"/>
              <a:t>u</a:t>
            </a:r>
            <a:r>
              <a:rPr dirty="0"/>
              <a:t>?" </a:t>
            </a:r>
            <a:r>
              <a:rPr dirty="0" err="1"/>
              <a:t>sor</a:t>
            </a:r>
            <a:r>
              <a:rPr lang="tr-TR" dirty="0" err="1"/>
              <a:t>gulanmış</a:t>
            </a:r>
            <a:r>
              <a:rPr lang="tr-TR" dirty="0"/>
              <a:t> oldu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9C87"/>
                </a:solidFill>
              </a:defRPr>
            </a:pPr>
            <a:r>
              <a:t>Sonuçlar ve Kazanımlar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t>AI ve Eşleştirme: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3-Aşamalı RAG (+%44.7 iyileşme)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Cross-lingual (TR↔EN)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Bankacılık jargonu (OFAC, KKB, PCI-DSS)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Genelleştirme: %83 buluyor, %100 reddediyor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t>Kalite ve Güvenlik: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3-Skorlu kalite sistemi (8 kriter + AI)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90+ kaynak, 999 zenginleştirilmiş terim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Lokal embedding — KVKK uyumlu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t>Kurumsal: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Login + 18 Kuveyt Türk birimi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Talep geçmişi + filtreleme + düzenleme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Aksiyon butonları + toast bildirimi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</a:defRPr>
            </a:pPr>
            <a:r>
              <a:t>Teknik: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Next.js 14 + TS + FastAPI + Python 3.13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Bilingual UI (TR/EN)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v0.1.0 → v0.2.17 (25 versiyon, 2 gün)</a:t>
            </a:r>
          </a:p>
          <a:p>
            <a:pPr lvl="1">
              <a:spcBef>
                <a:spcPts val="300"/>
              </a:spcBef>
              <a:defRPr sz="1300" b="0">
                <a:solidFill>
                  <a:srgbClr val="16A34A"/>
                </a:solidFill>
              </a:defRPr>
            </a:pPr>
            <a:r>
              <a:t>✅  Tam dokümantasyon (README, CHANGELOG, KAYNAKLAR)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9C87"/>
                </a:solidFill>
              </a:defRPr>
            </a:pPr>
            <a:r>
              <a:t>Güvenli Giriş — Kurumsal Kimlik Doğrulama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691640"/>
            <a:ext cx="4389120" cy="268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lang="en-US" dirty="0" err="1"/>
              <a:t>Kuveyt</a:t>
            </a:r>
            <a:r>
              <a:rPr lang="en-US" dirty="0"/>
              <a:t> Türk </a:t>
            </a:r>
            <a:r>
              <a:rPr lang="tr-TR" dirty="0"/>
              <a:t>k</a:t>
            </a:r>
            <a:r>
              <a:rPr dirty="0" err="1"/>
              <a:t>urumsal</a:t>
            </a:r>
            <a:r>
              <a:rPr dirty="0"/>
              <a:t> </a:t>
            </a:r>
            <a:r>
              <a:rPr dirty="0" err="1"/>
              <a:t>kimlik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güvenli</a:t>
            </a:r>
            <a:r>
              <a:rPr dirty="0"/>
              <a:t> </a:t>
            </a:r>
            <a:r>
              <a:rPr dirty="0" err="1"/>
              <a:t>erişim</a:t>
            </a:r>
            <a:r>
              <a:rPr lang="tr-TR" dirty="0"/>
              <a:t>.</a:t>
            </a:r>
            <a:endParaRPr dirty="0"/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Güvenlik</a:t>
            </a:r>
            <a:r>
              <a:rPr dirty="0"/>
              <a:t> </a:t>
            </a:r>
            <a:r>
              <a:rPr dirty="0" err="1"/>
              <a:t>Katmanları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E-</a:t>
            </a:r>
            <a:r>
              <a:rPr dirty="0" err="1"/>
              <a:t>posta</a:t>
            </a:r>
            <a:r>
              <a:rPr dirty="0"/>
              <a:t> </a:t>
            </a:r>
            <a:r>
              <a:rPr dirty="0" err="1"/>
              <a:t>tabanlı</a:t>
            </a:r>
            <a:r>
              <a:rPr dirty="0"/>
              <a:t> </a:t>
            </a:r>
            <a:r>
              <a:rPr dirty="0" err="1"/>
              <a:t>kimlik</a:t>
            </a:r>
            <a:r>
              <a:rPr dirty="0"/>
              <a:t> </a:t>
            </a:r>
            <a:r>
              <a:rPr dirty="0" err="1"/>
              <a:t>doğrulama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Şifre</a:t>
            </a:r>
            <a:r>
              <a:rPr dirty="0"/>
              <a:t> </a:t>
            </a:r>
            <a:r>
              <a:rPr dirty="0" err="1"/>
              <a:t>koruması</a:t>
            </a:r>
            <a:r>
              <a:rPr dirty="0"/>
              <a:t> (</a:t>
            </a:r>
            <a:r>
              <a:rPr dirty="0" err="1"/>
              <a:t>göster</a:t>
            </a:r>
            <a:r>
              <a:rPr dirty="0"/>
              <a:t>/</a:t>
            </a:r>
            <a:r>
              <a:rPr dirty="0" err="1"/>
              <a:t>gizle</a:t>
            </a:r>
            <a:r>
              <a:rPr dirty="0"/>
              <a:t> </a:t>
            </a:r>
            <a:r>
              <a:rPr dirty="0" err="1"/>
              <a:t>desteği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Oturum</a:t>
            </a:r>
            <a:r>
              <a:rPr dirty="0"/>
              <a:t> </a:t>
            </a:r>
            <a:r>
              <a:rPr dirty="0" err="1"/>
              <a:t>yönetimi</a:t>
            </a:r>
            <a:r>
              <a:rPr dirty="0"/>
              <a:t> (</a:t>
            </a:r>
            <a:r>
              <a:rPr dirty="0" err="1"/>
              <a:t>güvenli</a:t>
            </a:r>
            <a:r>
              <a:rPr dirty="0"/>
              <a:t> </a:t>
            </a:r>
            <a:r>
              <a:rPr dirty="0" err="1"/>
              <a:t>çıkış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Production </a:t>
            </a:r>
            <a:r>
              <a:rPr dirty="0" err="1"/>
              <a:t>Entegrasyonu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LDAP/Active Directory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oturum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Kullanıcı</a:t>
            </a:r>
            <a:r>
              <a:rPr dirty="0"/>
              <a:t> </a:t>
            </a:r>
            <a:r>
              <a:rPr dirty="0" err="1"/>
              <a:t>adı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birimi</a:t>
            </a:r>
            <a:r>
              <a:rPr dirty="0"/>
              <a:t> </a:t>
            </a:r>
            <a:r>
              <a:rPr dirty="0" err="1"/>
              <a:t>otomatik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Merkezi</a:t>
            </a:r>
            <a:r>
              <a:rPr dirty="0"/>
              <a:t> </a:t>
            </a:r>
            <a:r>
              <a:rPr dirty="0" err="1"/>
              <a:t>yetkilendirme</a:t>
            </a:r>
            <a:r>
              <a:rPr dirty="0"/>
              <a:t> </a:t>
            </a:r>
            <a:r>
              <a:rPr dirty="0" err="1"/>
              <a:t>altyapısı</a:t>
            </a:r>
            <a:endParaRPr dirty="0"/>
          </a:p>
        </p:txBody>
      </p:sp>
      <p:pic>
        <p:nvPicPr>
          <p:cNvPr id="8" name="Resim 7" descr="metin, ekran görüntüsü, tasar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D387CC9-4939-D193-B71F-8811A6FE9F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12" r="19995"/>
          <a:stretch>
            <a:fillRect/>
          </a:stretch>
        </p:blipFill>
        <p:spPr>
          <a:xfrm>
            <a:off x="899160" y="882491"/>
            <a:ext cx="5509260" cy="47841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9C87"/>
                </a:solidFill>
              </a:defRPr>
            </a:pPr>
            <a:r>
              <a:t>Akıllı Model Talebi — Mükerrer Tespit Motoru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256702"/>
            <a:ext cx="4389120" cy="4008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Sistemin</a:t>
            </a:r>
            <a:r>
              <a:rPr dirty="0"/>
              <a:t> kalbi: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ekranda</a:t>
            </a:r>
            <a:r>
              <a:rPr dirty="0"/>
              <a:t> </a:t>
            </a:r>
            <a:r>
              <a:rPr dirty="0" err="1"/>
              <a:t>talep</a:t>
            </a:r>
            <a:r>
              <a:rPr dirty="0"/>
              <a:t>,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analiz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karar</a:t>
            </a:r>
            <a:r>
              <a:rPr dirty="0"/>
              <a:t> </a:t>
            </a:r>
            <a:r>
              <a:rPr dirty="0" err="1"/>
              <a:t>desteği</a:t>
            </a:r>
            <a:endParaRPr dirty="0"/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Talep</a:t>
            </a:r>
            <a:r>
              <a:rPr dirty="0"/>
              <a:t> </a:t>
            </a:r>
            <a:r>
              <a:rPr dirty="0" err="1"/>
              <a:t>Formu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Birim</a:t>
            </a:r>
            <a:r>
              <a:rPr dirty="0"/>
              <a:t> </a:t>
            </a:r>
            <a:r>
              <a:rPr dirty="0" err="1"/>
              <a:t>bazlı</a:t>
            </a:r>
            <a:r>
              <a:rPr dirty="0"/>
              <a:t> </a:t>
            </a:r>
            <a:r>
              <a:rPr dirty="0" err="1"/>
              <a:t>takip</a:t>
            </a:r>
            <a:r>
              <a:rPr dirty="0"/>
              <a:t> (</a:t>
            </a:r>
            <a:r>
              <a:rPr lang="tr-TR" dirty="0" err="1"/>
              <a:t>KuveytTürk</a:t>
            </a:r>
            <a:r>
              <a:rPr dirty="0"/>
              <a:t> </a:t>
            </a:r>
            <a:r>
              <a:rPr lang="tr-TR" dirty="0"/>
              <a:t>D</a:t>
            </a:r>
            <a:r>
              <a:rPr dirty="0" err="1"/>
              <a:t>epartman</a:t>
            </a:r>
            <a:r>
              <a:rPr lang="tr-TR" dirty="0" err="1"/>
              <a:t>lar</a:t>
            </a:r>
            <a:r>
              <a:rPr dirty="0"/>
              <a:t>ı)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Zorunlu</a:t>
            </a:r>
            <a:r>
              <a:rPr dirty="0"/>
              <a:t> </a:t>
            </a:r>
            <a:r>
              <a:rPr dirty="0" err="1"/>
              <a:t>alan</a:t>
            </a:r>
            <a:r>
              <a:rPr dirty="0"/>
              <a:t> </a:t>
            </a:r>
            <a:r>
              <a:rPr dirty="0" err="1"/>
              <a:t>kontrolü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kalitesi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Öncelik</a:t>
            </a:r>
            <a:r>
              <a:rPr dirty="0"/>
              <a:t> </a:t>
            </a:r>
            <a:r>
              <a:rPr dirty="0" err="1"/>
              <a:t>yönetimi</a:t>
            </a:r>
            <a:r>
              <a:rPr dirty="0"/>
              <a:t> (</a:t>
            </a:r>
            <a:r>
              <a:rPr dirty="0" err="1"/>
              <a:t>Düşük</a:t>
            </a:r>
            <a:r>
              <a:rPr dirty="0"/>
              <a:t> → Acil)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Yapay</a:t>
            </a:r>
            <a:r>
              <a:rPr dirty="0"/>
              <a:t> Zeka </a:t>
            </a:r>
            <a:r>
              <a:rPr dirty="0" err="1"/>
              <a:t>Analizi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3-aşamalı RAG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anlamsal</a:t>
            </a:r>
            <a:r>
              <a:rPr dirty="0"/>
              <a:t> </a:t>
            </a:r>
            <a:r>
              <a:rPr dirty="0" err="1"/>
              <a:t>eşleştirme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Mükerrer</a:t>
            </a:r>
            <a:r>
              <a:rPr dirty="0"/>
              <a:t> </a:t>
            </a:r>
            <a:r>
              <a:rPr dirty="0" err="1"/>
              <a:t>tespit</a:t>
            </a:r>
            <a:r>
              <a:rPr dirty="0"/>
              <a:t> </a:t>
            </a:r>
            <a:r>
              <a:rPr dirty="0" err="1"/>
              <a:t>edildiğinde</a:t>
            </a:r>
            <a:r>
              <a:rPr dirty="0"/>
              <a:t> </a:t>
            </a:r>
            <a:r>
              <a:rPr dirty="0" err="1"/>
              <a:t>kırmızı</a:t>
            </a:r>
            <a:r>
              <a:rPr dirty="0"/>
              <a:t> </a:t>
            </a:r>
            <a:r>
              <a:rPr dirty="0" err="1"/>
              <a:t>uyarı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Eşleşen</a:t>
            </a:r>
            <a:r>
              <a:rPr dirty="0"/>
              <a:t> </a:t>
            </a:r>
            <a:r>
              <a:rPr dirty="0" err="1"/>
              <a:t>modelin</a:t>
            </a:r>
            <a:r>
              <a:rPr dirty="0"/>
              <a:t> </a:t>
            </a:r>
            <a:r>
              <a:rPr dirty="0" err="1"/>
              <a:t>tüm</a:t>
            </a:r>
            <a:r>
              <a:rPr dirty="0"/>
              <a:t> </a:t>
            </a:r>
            <a:r>
              <a:rPr dirty="0" err="1"/>
              <a:t>gereklilikleri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  (</a:t>
            </a:r>
            <a:r>
              <a:rPr dirty="0" err="1"/>
              <a:t>anahtar</a:t>
            </a:r>
            <a:r>
              <a:rPr dirty="0"/>
              <a:t> </a:t>
            </a:r>
            <a:r>
              <a:rPr dirty="0" err="1"/>
              <a:t>kavramlar</a:t>
            </a:r>
            <a:r>
              <a:rPr dirty="0"/>
              <a:t> + </a:t>
            </a:r>
            <a:r>
              <a:rPr dirty="0" err="1"/>
              <a:t>standartlar</a:t>
            </a:r>
            <a:r>
              <a:rPr dirty="0"/>
              <a:t> + </a:t>
            </a:r>
            <a:r>
              <a:rPr dirty="0" err="1"/>
              <a:t>kaynaklar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Karar </a:t>
            </a:r>
            <a:r>
              <a:rPr dirty="0" err="1"/>
              <a:t>Desteği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"</a:t>
            </a:r>
            <a:r>
              <a:rPr dirty="0" err="1"/>
              <a:t>Mevcut</a:t>
            </a:r>
            <a:r>
              <a:rPr dirty="0"/>
              <a:t> </a:t>
            </a:r>
            <a:r>
              <a:rPr dirty="0" err="1"/>
              <a:t>Modeli</a:t>
            </a:r>
            <a:r>
              <a:rPr dirty="0"/>
              <a:t> </a:t>
            </a:r>
            <a:r>
              <a:rPr dirty="0" err="1"/>
              <a:t>İncele</a:t>
            </a:r>
            <a:r>
              <a:rPr dirty="0"/>
              <a:t>" </a:t>
            </a:r>
            <a:r>
              <a:rPr dirty="0" err="1"/>
              <a:t>ile</a:t>
            </a:r>
            <a:r>
              <a:rPr dirty="0"/>
              <a:t> zaman </a:t>
            </a:r>
            <a:r>
              <a:rPr dirty="0" err="1"/>
              <a:t>tasarrufu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"Model </a:t>
            </a:r>
            <a:r>
              <a:rPr dirty="0" err="1"/>
              <a:t>Sahibiyle</a:t>
            </a:r>
            <a:r>
              <a:rPr dirty="0"/>
              <a:t> </a:t>
            </a:r>
            <a:r>
              <a:rPr dirty="0" err="1"/>
              <a:t>İletişime</a:t>
            </a:r>
            <a:r>
              <a:rPr dirty="0"/>
              <a:t> </a:t>
            </a:r>
            <a:r>
              <a:rPr dirty="0" err="1"/>
              <a:t>Geç</a:t>
            </a:r>
            <a:r>
              <a:rPr dirty="0"/>
              <a:t>"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koordinasyon</a:t>
            </a:r>
            <a:endParaRPr dirty="0"/>
          </a:p>
        </p:txBody>
      </p:sp>
      <p:pic>
        <p:nvPicPr>
          <p:cNvPr id="8" name="Resim 7" descr="metin, ekran görüntüsü, yazılım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D59D460-96B6-3DBD-7845-43DC15663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962" y="731520"/>
            <a:ext cx="5013357" cy="55714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9C87"/>
                </a:solidFill>
              </a:defRPr>
            </a:pPr>
            <a:r>
              <a:t>Talep Geçmişi — Kurumsal Hafıza ve İzlenebilirlik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8560" y="1234440"/>
            <a:ext cx="4389120" cy="353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Her </a:t>
            </a:r>
            <a:r>
              <a:rPr dirty="0" err="1"/>
              <a:t>talep</a:t>
            </a:r>
            <a:r>
              <a:rPr dirty="0"/>
              <a:t> </a:t>
            </a:r>
            <a:r>
              <a:rPr dirty="0" err="1"/>
              <a:t>kayıt</a:t>
            </a:r>
            <a:r>
              <a:rPr dirty="0"/>
              <a:t> </a:t>
            </a:r>
            <a:r>
              <a:rPr dirty="0" err="1"/>
              <a:t>altında</a:t>
            </a:r>
            <a:r>
              <a:rPr dirty="0"/>
              <a:t> </a:t>
            </a:r>
            <a:r>
              <a:rPr dirty="0" err="1"/>
              <a:t>hiçbir</a:t>
            </a:r>
            <a:r>
              <a:rPr dirty="0"/>
              <a:t> </a:t>
            </a:r>
            <a:r>
              <a:rPr dirty="0" err="1"/>
              <a:t>bilgi</a:t>
            </a:r>
            <a:r>
              <a:rPr lang="tr-TR" dirty="0"/>
              <a:t> </a:t>
            </a:r>
            <a:r>
              <a:rPr dirty="0" err="1"/>
              <a:t>kaybolmuyor</a:t>
            </a:r>
            <a:r>
              <a:rPr lang="tr-TR" dirty="0"/>
              <a:t>.</a:t>
            </a:r>
            <a:endParaRPr dirty="0"/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İzlenebilirlik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Kim, hangi </a:t>
            </a:r>
            <a:r>
              <a:rPr dirty="0" err="1"/>
              <a:t>birimden</a:t>
            </a:r>
            <a:r>
              <a:rPr dirty="0"/>
              <a:t>, ne </a:t>
            </a:r>
            <a:r>
              <a:rPr dirty="0" err="1"/>
              <a:t>talep</a:t>
            </a:r>
            <a:r>
              <a:rPr dirty="0"/>
              <a:t> </a:t>
            </a:r>
            <a:r>
              <a:rPr dirty="0" err="1"/>
              <a:t>etti</a:t>
            </a:r>
            <a:r>
              <a:rPr dirty="0"/>
              <a:t>?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Hangi </a:t>
            </a:r>
            <a:r>
              <a:rPr dirty="0" err="1"/>
              <a:t>modelle</a:t>
            </a:r>
            <a:r>
              <a:rPr dirty="0"/>
              <a:t> </a:t>
            </a:r>
            <a:r>
              <a:rPr dirty="0" err="1"/>
              <a:t>eşleşti</a:t>
            </a:r>
            <a:r>
              <a:rPr dirty="0"/>
              <a:t>, ne </a:t>
            </a:r>
            <a:r>
              <a:rPr dirty="0" err="1"/>
              <a:t>skor</a:t>
            </a:r>
            <a:r>
              <a:rPr dirty="0"/>
              <a:t> </a:t>
            </a:r>
            <a:r>
              <a:rPr dirty="0" err="1"/>
              <a:t>aldı</a:t>
            </a:r>
            <a:r>
              <a:rPr dirty="0"/>
              <a:t>?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Mükerrer</a:t>
            </a:r>
            <a:r>
              <a:rPr dirty="0"/>
              <a:t> mi, </a:t>
            </a:r>
            <a:r>
              <a:rPr dirty="0" err="1"/>
              <a:t>benzer</a:t>
            </a:r>
            <a:r>
              <a:rPr dirty="0"/>
              <a:t> mi, yeni mi?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Etkileşimli</a:t>
            </a:r>
            <a:r>
              <a:rPr dirty="0"/>
              <a:t> </a:t>
            </a:r>
            <a:r>
              <a:rPr dirty="0" err="1"/>
              <a:t>Detay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Satıra</a:t>
            </a:r>
            <a:r>
              <a:rPr dirty="0"/>
              <a:t> </a:t>
            </a:r>
            <a:r>
              <a:rPr dirty="0" err="1"/>
              <a:t>tıkla</a:t>
            </a:r>
            <a:r>
              <a:rPr dirty="0"/>
              <a:t> → </a:t>
            </a:r>
            <a:r>
              <a:rPr dirty="0" err="1"/>
              <a:t>eşleşen</a:t>
            </a:r>
            <a:r>
              <a:rPr dirty="0"/>
              <a:t> </a:t>
            </a:r>
            <a:r>
              <a:rPr dirty="0" err="1"/>
              <a:t>modeller</a:t>
            </a:r>
            <a:r>
              <a:rPr dirty="0"/>
              <a:t> </a:t>
            </a:r>
            <a:r>
              <a:rPr dirty="0" err="1"/>
              <a:t>tablosu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Benzer/Yeni: </a:t>
            </a:r>
            <a:r>
              <a:rPr dirty="0" err="1"/>
              <a:t>düzenle</a:t>
            </a:r>
            <a:r>
              <a:rPr dirty="0"/>
              <a:t> → </a:t>
            </a:r>
            <a:r>
              <a:rPr dirty="0" err="1"/>
              <a:t>Kontrol</a:t>
            </a:r>
            <a:r>
              <a:rPr dirty="0"/>
              <a:t> Et → </a:t>
            </a:r>
            <a:r>
              <a:rPr dirty="0" err="1"/>
              <a:t>Güncelle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Skor </a:t>
            </a:r>
            <a:r>
              <a:rPr dirty="0" err="1"/>
              <a:t>karşılaştırma</a:t>
            </a:r>
            <a:r>
              <a:rPr dirty="0"/>
              <a:t> (</a:t>
            </a:r>
            <a:r>
              <a:rPr dirty="0" err="1"/>
              <a:t>iyileşme</a:t>
            </a:r>
            <a:r>
              <a:rPr dirty="0"/>
              <a:t>/</a:t>
            </a:r>
            <a:r>
              <a:rPr dirty="0" err="1"/>
              <a:t>kötüleşme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Yönetim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Birim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sonuç</a:t>
            </a:r>
            <a:r>
              <a:rPr dirty="0"/>
              <a:t> </a:t>
            </a:r>
            <a:r>
              <a:rPr dirty="0" err="1"/>
              <a:t>bazlı</a:t>
            </a:r>
            <a:r>
              <a:rPr dirty="0"/>
              <a:t> </a:t>
            </a:r>
            <a:r>
              <a:rPr dirty="0" err="1"/>
              <a:t>filtreleme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Tek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silme</a:t>
            </a:r>
            <a:r>
              <a:rPr dirty="0"/>
              <a:t> (</a:t>
            </a:r>
            <a:r>
              <a:rPr dirty="0" err="1"/>
              <a:t>onay</a:t>
            </a:r>
            <a:r>
              <a:rPr dirty="0"/>
              <a:t> </a:t>
            </a:r>
            <a:r>
              <a:rPr dirty="0" err="1"/>
              <a:t>dialogu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)</a:t>
            </a:r>
          </a:p>
        </p:txBody>
      </p:sp>
      <p:pic>
        <p:nvPicPr>
          <p:cNvPr id="8" name="Resim 7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9FCA1EC-5F02-5D5E-5182-05A1EF71E3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83" r="13341"/>
          <a:stretch>
            <a:fillRect/>
          </a:stretch>
        </p:blipFill>
        <p:spPr>
          <a:xfrm>
            <a:off x="274320" y="822960"/>
            <a:ext cx="7048499" cy="52917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9C87"/>
                </a:solidFill>
              </a:defRPr>
            </a:pPr>
            <a:r>
              <a:t>Model Envanteri — 30 Bankacılık Modelinin Dijital Hafızası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2" y="1818990"/>
            <a:ext cx="6263638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Bankanın</a:t>
            </a:r>
            <a:r>
              <a:rPr dirty="0"/>
              <a:t> AI/ML model</a:t>
            </a:r>
            <a:r>
              <a:rPr lang="tr-TR" dirty="0"/>
              <a:t> </a:t>
            </a:r>
            <a:r>
              <a:rPr dirty="0" err="1"/>
              <a:t>birikimi</a:t>
            </a:r>
            <a:r>
              <a:rPr dirty="0"/>
              <a:t>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ekranda</a:t>
            </a:r>
            <a:r>
              <a:rPr lang="tr-TR" dirty="0"/>
              <a:t> yer alıyor.</a:t>
            </a:r>
            <a:endParaRPr dirty="0"/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Envanter</a:t>
            </a:r>
            <a:r>
              <a:rPr dirty="0"/>
              <a:t> </a:t>
            </a:r>
            <a:r>
              <a:rPr dirty="0" err="1"/>
              <a:t>Kapsamı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30 model, 6 </a:t>
            </a:r>
            <a:r>
              <a:rPr dirty="0" err="1"/>
              <a:t>kategori</a:t>
            </a:r>
            <a:r>
              <a:rPr dirty="0"/>
              <a:t> (</a:t>
            </a:r>
            <a:r>
              <a:rPr dirty="0" err="1"/>
              <a:t>Kredi</a:t>
            </a:r>
            <a:r>
              <a:rPr dirty="0"/>
              <a:t> </a:t>
            </a:r>
            <a:r>
              <a:rPr dirty="0" err="1"/>
              <a:t>Riski</a:t>
            </a:r>
            <a:r>
              <a:rPr dirty="0"/>
              <a:t>,</a:t>
            </a:r>
            <a:r>
              <a:rPr lang="tr-TR" dirty="0"/>
              <a:t> </a:t>
            </a:r>
            <a:r>
              <a:rPr dirty="0"/>
              <a:t> </a:t>
            </a:r>
            <a:r>
              <a:rPr dirty="0" err="1"/>
              <a:t>Dolandırıcılık</a:t>
            </a:r>
            <a:r>
              <a:rPr dirty="0"/>
              <a:t>, </a:t>
            </a:r>
            <a:r>
              <a:rPr dirty="0" err="1"/>
              <a:t>Müşteri</a:t>
            </a:r>
            <a:r>
              <a:rPr dirty="0"/>
              <a:t>, NLP, </a:t>
            </a:r>
            <a:r>
              <a:rPr dirty="0" err="1"/>
              <a:t>Operasyon</a:t>
            </a:r>
            <a:r>
              <a:rPr dirty="0"/>
              <a:t>, </a:t>
            </a:r>
            <a:r>
              <a:rPr dirty="0" err="1"/>
              <a:t>Yatırım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Türkçe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İngilizce</a:t>
            </a:r>
            <a:r>
              <a:rPr dirty="0"/>
              <a:t> tam </a:t>
            </a:r>
            <a:r>
              <a:rPr dirty="0" err="1"/>
              <a:t>açıklamalar</a:t>
            </a:r>
            <a:endParaRPr dirty="0"/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Bilgi </a:t>
            </a:r>
            <a:r>
              <a:rPr dirty="0" err="1"/>
              <a:t>Derinliği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90+ </a:t>
            </a:r>
            <a:r>
              <a:rPr dirty="0" err="1"/>
              <a:t>otoriter</a:t>
            </a:r>
            <a:r>
              <a:rPr dirty="0"/>
              <a:t> </a:t>
            </a:r>
            <a:r>
              <a:rPr dirty="0" err="1"/>
              <a:t>kaynaktan</a:t>
            </a:r>
            <a:r>
              <a:rPr dirty="0"/>
              <a:t> </a:t>
            </a:r>
            <a:r>
              <a:rPr dirty="0" err="1"/>
              <a:t>çıkarılmış</a:t>
            </a:r>
            <a:r>
              <a:rPr lang="tr-TR" dirty="0"/>
              <a:t> </a:t>
            </a:r>
            <a:r>
              <a:rPr dirty="0"/>
              <a:t> 999 domain-</a:t>
            </a:r>
            <a:r>
              <a:rPr dirty="0" err="1"/>
              <a:t>spesifik</a:t>
            </a:r>
            <a:r>
              <a:rPr dirty="0"/>
              <a:t> </a:t>
            </a:r>
            <a:r>
              <a:rPr dirty="0" err="1"/>
              <a:t>terim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İlgili</a:t>
            </a:r>
            <a:r>
              <a:rPr dirty="0"/>
              <a:t> </a:t>
            </a:r>
            <a:r>
              <a:rPr dirty="0" err="1"/>
              <a:t>düzenleyici</a:t>
            </a:r>
            <a:r>
              <a:rPr dirty="0"/>
              <a:t> </a:t>
            </a:r>
            <a:r>
              <a:rPr dirty="0" err="1"/>
              <a:t>standartlar</a:t>
            </a:r>
            <a:r>
              <a:rPr lang="tr-TR" dirty="0"/>
              <a:t> </a:t>
            </a:r>
            <a:r>
              <a:rPr dirty="0"/>
              <a:t>(Basel III, FATF, MASAK, PCI-DSS)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Tıklanabilir</a:t>
            </a:r>
            <a:r>
              <a:rPr dirty="0"/>
              <a:t> </a:t>
            </a:r>
            <a:r>
              <a:rPr dirty="0" err="1"/>
              <a:t>referans</a:t>
            </a:r>
            <a:r>
              <a:rPr dirty="0"/>
              <a:t> </a:t>
            </a:r>
            <a:r>
              <a:rPr dirty="0" err="1"/>
              <a:t>kaynaklar</a:t>
            </a:r>
            <a:r>
              <a:rPr lang="tr-TR" dirty="0"/>
              <a:t> </a:t>
            </a:r>
            <a:r>
              <a:rPr dirty="0"/>
              <a:t>(BIS, FICO, IEEE, Nature)</a:t>
            </a:r>
          </a:p>
        </p:txBody>
      </p:sp>
      <p:pic>
        <p:nvPicPr>
          <p:cNvPr id="8" name="Resim 7" descr="metin, ekran görüntüsü, doküman, belge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E13B7EA-17C5-213F-01FE-CDBA22692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731519"/>
            <a:ext cx="5158740" cy="55758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9C87"/>
                </a:solidFill>
              </a:defRPr>
            </a:pPr>
            <a:r>
              <a:t>Envanter Sağlığı — Yapay Zeka ile Öz Denetim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3178" y="1674227"/>
            <a:ext cx="5318761" cy="268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sadece</a:t>
            </a:r>
            <a:r>
              <a:rPr dirty="0"/>
              <a:t> </a:t>
            </a:r>
            <a:r>
              <a:rPr dirty="0" err="1"/>
              <a:t>talepleri</a:t>
            </a:r>
            <a:r>
              <a:rPr dirty="0"/>
              <a:t> </a:t>
            </a:r>
            <a:r>
              <a:rPr dirty="0" err="1"/>
              <a:t>denetlemez</a:t>
            </a:r>
            <a:r>
              <a:rPr dirty="0"/>
              <a:t> </a:t>
            </a:r>
            <a:r>
              <a:rPr dirty="0" err="1"/>
              <a:t>kendi</a:t>
            </a:r>
            <a:r>
              <a:rPr dirty="0"/>
              <a:t> </a:t>
            </a:r>
            <a:r>
              <a:rPr dirty="0" err="1"/>
              <a:t>envanterini</a:t>
            </a:r>
            <a:r>
              <a:rPr dirty="0"/>
              <a:t> de </a:t>
            </a:r>
            <a:r>
              <a:rPr dirty="0" err="1"/>
              <a:t>denetle</a:t>
            </a:r>
            <a:r>
              <a:rPr lang="tr-TR" dirty="0" err="1"/>
              <a:t>yebilir</a:t>
            </a:r>
            <a:r>
              <a:rPr lang="tr-TR" dirty="0"/>
              <a:t>.</a:t>
            </a:r>
            <a:endParaRPr dirty="0"/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3-Boyutlu </a:t>
            </a:r>
            <a:r>
              <a:rPr dirty="0" err="1"/>
              <a:t>Kalite</a:t>
            </a:r>
            <a:r>
              <a:rPr dirty="0"/>
              <a:t> </a:t>
            </a:r>
            <a:r>
              <a:rPr dirty="0" err="1"/>
              <a:t>Ölçümü</a:t>
            </a:r>
            <a:r>
              <a:rPr dirty="0"/>
              <a:t>: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Açıklama</a:t>
            </a:r>
            <a:r>
              <a:rPr dirty="0"/>
              <a:t> </a:t>
            </a:r>
            <a:r>
              <a:rPr dirty="0" err="1"/>
              <a:t>Kalitesi</a:t>
            </a:r>
            <a:r>
              <a:rPr dirty="0"/>
              <a:t> (62/100):</a:t>
            </a:r>
            <a:r>
              <a:rPr lang="tr-TR" dirty="0"/>
              <a:t> </a:t>
            </a:r>
            <a:r>
              <a:rPr dirty="0"/>
              <a:t>  </a:t>
            </a:r>
            <a:r>
              <a:rPr lang="tr-TR" dirty="0"/>
              <a:t> </a:t>
            </a:r>
            <a:r>
              <a:rPr dirty="0"/>
              <a:t>8 </a:t>
            </a:r>
            <a:r>
              <a:rPr dirty="0" err="1"/>
              <a:t>kriter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metin</a:t>
            </a:r>
            <a:r>
              <a:rPr dirty="0"/>
              <a:t> </a:t>
            </a:r>
            <a:r>
              <a:rPr dirty="0" err="1"/>
              <a:t>yeterliliği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Bulunabilirlik</a:t>
            </a:r>
            <a:r>
              <a:rPr dirty="0"/>
              <a:t> (84/100):</a:t>
            </a:r>
            <a:r>
              <a:rPr lang="tr-TR" dirty="0"/>
              <a:t> </a:t>
            </a:r>
            <a:r>
              <a:rPr dirty="0"/>
              <a:t>  </a:t>
            </a:r>
            <a:r>
              <a:rPr lang="tr-TR" dirty="0"/>
              <a:t>       </a:t>
            </a:r>
            <a:r>
              <a:rPr dirty="0"/>
              <a:t>AI embedding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aranabilirlik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Zenginleştirme</a:t>
            </a:r>
            <a:r>
              <a:rPr dirty="0"/>
              <a:t> (63/100):</a:t>
            </a:r>
            <a:r>
              <a:rPr lang="tr-TR" dirty="0"/>
              <a:t> </a:t>
            </a:r>
            <a:r>
              <a:rPr dirty="0"/>
              <a:t>  </a:t>
            </a:r>
            <a:r>
              <a:rPr lang="tr-TR" dirty="0"/>
              <a:t>    </a:t>
            </a:r>
            <a:r>
              <a:rPr dirty="0"/>
              <a:t>Keyword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kaynak</a:t>
            </a:r>
            <a:r>
              <a:rPr dirty="0"/>
              <a:t> </a:t>
            </a:r>
            <a:r>
              <a:rPr dirty="0" err="1"/>
              <a:t>zenginliği</a:t>
            </a:r>
            <a:endParaRPr dirty="0"/>
          </a:p>
          <a:p>
            <a:pPr>
              <a:spcBef>
                <a:spcPts val="300"/>
              </a:spcBef>
              <a:defRPr sz="600" b="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 err="1"/>
              <a:t>Neden</a:t>
            </a:r>
            <a:r>
              <a:rPr dirty="0"/>
              <a:t> </a:t>
            </a:r>
            <a:r>
              <a:rPr dirty="0" err="1"/>
              <a:t>Hiçbiri</a:t>
            </a:r>
            <a:r>
              <a:rPr dirty="0"/>
              <a:t> </a:t>
            </a:r>
            <a:r>
              <a:rPr dirty="0" err="1"/>
              <a:t>Mükemmel</a:t>
            </a:r>
            <a:r>
              <a:rPr dirty="0"/>
              <a:t> </a:t>
            </a:r>
            <a:r>
              <a:rPr dirty="0" err="1"/>
              <a:t>Değil</a:t>
            </a:r>
            <a:r>
              <a:rPr dirty="0"/>
              <a:t>?</a:t>
            </a:r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Eşikler</a:t>
            </a:r>
            <a:r>
              <a:rPr dirty="0"/>
              <a:t> </a:t>
            </a:r>
            <a:r>
              <a:rPr dirty="0" err="1"/>
              <a:t>bilinçli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zorlaştırıldı</a:t>
            </a:r>
            <a:r>
              <a:rPr lang="tr-TR" dirty="0"/>
              <a:t>.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İyileştirme</a:t>
            </a:r>
            <a:r>
              <a:rPr dirty="0"/>
              <a:t> </a:t>
            </a:r>
            <a:r>
              <a:rPr dirty="0" err="1"/>
              <a:t>alanı</a:t>
            </a:r>
            <a:r>
              <a:rPr dirty="0"/>
              <a:t> her zaman </a:t>
            </a:r>
            <a:r>
              <a:rPr dirty="0" err="1"/>
              <a:t>görünür</a:t>
            </a:r>
            <a:r>
              <a:rPr lang="tr-TR" dirty="0"/>
              <a:t>.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1E293B"/>
                </a:solidFill>
              </a:defRPr>
            </a:pPr>
            <a:r>
              <a:rPr dirty="0"/>
              <a:t>• "Garbage in, garbage out" </a:t>
            </a:r>
            <a:r>
              <a:rPr dirty="0" err="1"/>
              <a:t>önlenir</a:t>
            </a:r>
            <a:r>
              <a:rPr lang="tr-TR" dirty="0"/>
              <a:t>.</a:t>
            </a:r>
            <a:endParaRPr dirty="0"/>
          </a:p>
        </p:txBody>
      </p:sp>
      <p:pic>
        <p:nvPicPr>
          <p:cNvPr id="8" name="Resim 7" descr="metin, ekran görüntüsü, sayı, numara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2FF42C4-E696-FC23-5017-389B65AE3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76" y="722114"/>
            <a:ext cx="5226324" cy="54958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371600" cy="243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1A9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9C87"/>
                </a:solidFill>
              </a:defRPr>
            </a:pPr>
            <a:r>
              <a:t>Gelecek Geliştirmeler ve Production Yol Haritası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Vade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Geliştirme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Kısa (v0.3)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LLM </a:t>
                      </a:r>
                      <a:r>
                        <a:rPr dirty="0" err="1"/>
                        <a:t>ile</a:t>
                      </a:r>
                      <a:r>
                        <a:rPr dirty="0"/>
                        <a:t> "</a:t>
                      </a:r>
                      <a:r>
                        <a:rPr dirty="0" err="1"/>
                        <a:t>Neden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benzer</a:t>
                      </a:r>
                      <a:r>
                        <a:rPr dirty="0"/>
                        <a:t>?" </a:t>
                      </a:r>
                      <a:r>
                        <a:rPr dirty="0" err="1"/>
                        <a:t>açıklaması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Kısa (v0.3)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E-posta bildirimi + dashboard analitik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Orta (v1.0)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PostgreSQL + FAISS/</a:t>
                      </a:r>
                      <a:r>
                        <a:rPr dirty="0" err="1"/>
                        <a:t>Qdrant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Orta (v1.0)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LDAP/AD + API gateway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Orta (v1.0)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Prometheus + Grafana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Uzun (v2.0)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Aktif öğrenme (auto-tune)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Uzun (v2.0)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Fine-tuned domain 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0972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Özellik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Şu An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1A9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localStorage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LDAP/AD 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Geçmiş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localStorage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In-memory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FAISS/Qdrant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Prometheus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İş akışı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Bilgilendirme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BPM onay/red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9C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logo.jpg">
            <a:extLst>
              <a:ext uri="{FF2B5EF4-FFF2-40B4-BE49-F238E27FC236}">
                <a16:creationId xmlns:a16="http://schemas.microsoft.com/office/drawing/2014/main" id="{B19088EE-BA04-F3FD-39A7-674A0BB26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31520"/>
            <a:ext cx="2743200" cy="4871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C2BCA074-CF35-E530-12D6-1A9D4172FADF}"/>
              </a:ext>
            </a:extLst>
          </p:cNvPr>
          <p:cNvSpPr txBox="1"/>
          <p:nvPr/>
        </p:nvSpPr>
        <p:spPr>
          <a:xfrm>
            <a:off x="975360" y="4278273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FBF1"/>
                </a:solidFill>
              </a:defRPr>
            </a:pPr>
            <a:r>
              <a:rPr dirty="0"/>
              <a:t>Mahmut Zahid Malkoç  |  mzmalkoc@gmail.com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9208FCED-6D0B-ACE6-8210-4DCB133E6080}"/>
              </a:ext>
            </a:extLst>
          </p:cNvPr>
          <p:cNvSpPr txBox="1"/>
          <p:nvPr/>
        </p:nvSpPr>
        <p:spPr>
          <a:xfrm>
            <a:off x="975360" y="4781193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FBF1"/>
                </a:solidFill>
              </a:defRPr>
            </a:pPr>
            <a:r>
              <a:rPr dirty="0" err="1"/>
              <a:t>Proje</a:t>
            </a:r>
            <a:r>
              <a:rPr dirty="0"/>
              <a:t> </a:t>
            </a:r>
            <a:r>
              <a:rPr dirty="0" err="1"/>
              <a:t>dosyalarına</a:t>
            </a:r>
            <a:r>
              <a:rPr dirty="0"/>
              <a:t> </a:t>
            </a:r>
            <a:r>
              <a:rPr lang="tr-TR" dirty="0"/>
              <a:t>maildeki ekte yer alan dosyalardan veya </a:t>
            </a:r>
            <a:r>
              <a:rPr lang="tr-TR" dirty="0" err="1"/>
              <a:t>github</a:t>
            </a:r>
            <a:r>
              <a:rPr lang="tr-TR" dirty="0"/>
              <a:t> üzerinden</a:t>
            </a:r>
            <a:r>
              <a:rPr dirty="0"/>
              <a:t> </a:t>
            </a:r>
            <a:r>
              <a:rPr dirty="0" err="1"/>
              <a:t>erişilebilir</a:t>
            </a:r>
            <a:r>
              <a:rPr dirty="0"/>
              <a:t>: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2D139481-A3E3-485E-DE11-13F47C23ECF4}"/>
              </a:ext>
            </a:extLst>
          </p:cNvPr>
          <p:cNvSpPr txBox="1"/>
          <p:nvPr/>
        </p:nvSpPr>
        <p:spPr>
          <a:xfrm>
            <a:off x="975360" y="5009793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github.com/</a:t>
            </a:r>
            <a:r>
              <a:rPr dirty="0" err="1"/>
              <a:t>mzmalkoc</a:t>
            </a:r>
            <a:r>
              <a:rPr dirty="0"/>
              <a:t>/</a:t>
            </a:r>
            <a:r>
              <a:rPr dirty="0" err="1"/>
              <a:t>KT.ModelEnvanterYonetimi</a:t>
            </a:r>
            <a:endParaRPr dirty="0"/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C8F897AE-7B63-B1C1-D85E-EC3B9954B06B}"/>
              </a:ext>
            </a:extLst>
          </p:cNvPr>
          <p:cNvSpPr txBox="1"/>
          <p:nvPr/>
        </p:nvSpPr>
        <p:spPr>
          <a:xfrm>
            <a:off x="975360" y="201168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MODEL ENVANTER YÖNETİMİ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39A658A6-4718-F845-2828-49AB7BB90902}"/>
              </a:ext>
            </a:extLst>
          </p:cNvPr>
          <p:cNvSpPr txBox="1"/>
          <p:nvPr/>
        </p:nvSpPr>
        <p:spPr>
          <a:xfrm>
            <a:off x="2956560" y="284422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Model </a:t>
            </a:r>
            <a:r>
              <a:rPr lang="en-US" sz="2000" dirty="0" err="1">
                <a:solidFill>
                  <a:schemeClr val="bg1"/>
                </a:solidFill>
              </a:rPr>
              <a:t>Envanteri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Tekrar</a:t>
            </a:r>
            <a:r>
              <a:rPr lang="en-US" sz="2000" dirty="0">
                <a:solidFill>
                  <a:schemeClr val="bg1"/>
                </a:solidFill>
              </a:rPr>
              <a:t> Tespit </a:t>
            </a:r>
            <a:r>
              <a:rPr lang="en-US" sz="2000" dirty="0" err="1">
                <a:solidFill>
                  <a:schemeClr val="bg1"/>
                </a:solidFill>
              </a:rPr>
              <a:t>ve</a:t>
            </a:r>
            <a:r>
              <a:rPr lang="en-US" sz="2000" dirty="0">
                <a:solidFill>
                  <a:schemeClr val="bg1"/>
                </a:solidFill>
              </a:rPr>
              <a:t> Yeni </a:t>
            </a:r>
            <a:r>
              <a:rPr lang="en-US" sz="2000" dirty="0" err="1">
                <a:solidFill>
                  <a:schemeClr val="bg1"/>
                </a:solidFill>
              </a:rPr>
              <a:t>Talep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Sistemi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1964</Words>
  <Application>Microsoft Office PowerPoint</Application>
  <PresentationFormat>Geniş ekran</PresentationFormat>
  <Paragraphs>394</Paragraphs>
  <Slides>21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mahmutzahid malkoc</cp:lastModifiedBy>
  <cp:revision>6</cp:revision>
  <dcterms:created xsi:type="dcterms:W3CDTF">2013-01-27T09:14:16Z</dcterms:created>
  <dcterms:modified xsi:type="dcterms:W3CDTF">2026-04-17T19:20:42Z</dcterms:modified>
  <cp:category/>
</cp:coreProperties>
</file>